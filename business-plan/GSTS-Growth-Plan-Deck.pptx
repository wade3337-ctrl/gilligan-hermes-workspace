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  <p:sldId id="269" r:id="rIdS14"/>
    <p:sldId id="270" r:id="rIdS15"/>
    <p:sldId id="271" r:id="rIdS16"/>
    <p:sldId id="272" r:id="rIdS17"/>
    <p:sldId id="273" r:id="rIdS18"/>
    <p:sldId id="274" r:id="rIdS19"/>
  </p:sldIdLst>
  <p:sldSz cx="12191695" cy="6858000"/>
  <p:notesSz cx="6858000" cy="9144000"/>
</p:presentation>
</file>

<file path=ppt/_rels/presentation.xml.rels><?xml version="1.0" encoding="UTF-8" standalone="yes"?>
<Relationships xmlns="http://schemas.openxmlformats.org/package/2006/relationships">
<Relationship Id="rIdM" Type="http://schemas.openxmlformats.org/officeDocument/2006/relationships/slideMaster" Target="slideMasters/slideMaster1.xml"/>
<Relationship Id="rIdT" Type="http://schemas.openxmlformats.org/officeDocument/2006/relationships/theme" Target="theme/theme1.xml"/>
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Relationship Id="rIdS14" Type="http://schemas.openxmlformats.org/officeDocument/2006/relationships/slide" Target="slides/slide14.xml"/><Relationship Id="rIdS15" Type="http://schemas.openxmlformats.org/officeDocument/2006/relationships/slide" Target="slides/slide15.xml"/><Relationship Id="rIdS16" Type="http://schemas.openxmlformats.org/officeDocument/2006/relationships/slide" Target="slides/slide16.xml"/><Relationship Id="rIdS17" Type="http://schemas.openxmlformats.org/officeDocument/2006/relationships/slide" Target="slides/slide17.xml"/><Relationship Id="rIdS18" Type="http://schemas.openxmlformats.org/officeDocument/2006/relationships/slide" Target="slides/slide18.xml"/><Relationship Id="rIdS19" Type="http://schemas.openxmlformats.org/officeDocument/2006/relationships/slide" Target="slides/slide19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dk2" tx1="lt1" bg2="lt2" tx2="dk1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T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2" tx1="lt1" bg2="lt2" tx2="dk1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r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6332E"/>
          </a:solidFill>
          <a:ln>
            <a:noFill/>
          </a:ln>
        </p:spPr>
        <p:txBody>
          <a:bodyPr/>
          <a:p/>
        </p:txBody>
      </p:sp>
      <p:sp>
        <p:nvSpPr>
          <p:cNvPr id="2" name="r2"/>
          <p:cNvSpPr/>
          <p:nvPr/>
        </p:nvSpPr>
        <p:spPr>
          <a:xfrm>
            <a:off x="822960" y="2011680"/>
            <a:ext cx="228600" cy="2194560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3" name="t3"/>
          <p:cNvSpPr txBox="1"/>
          <p:nvPr/>
        </p:nvSpPr>
        <p:spPr>
          <a:xfrm>
            <a:off x="1234440" y="1965960"/>
            <a:ext cx="91440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B9D77A"/>
                </a:solidFill>
                <a:latin typeface="Aptos"/>
              </a:rPr>
              <a:t>GREAT SCOTT TREE CARE</a:t>
            </a:r>
          </a:p>
        </p:txBody>
      </p:sp>
      <p:sp>
        <p:nvSpPr>
          <p:cNvPr id="4" name="t4"/>
          <p:cNvSpPr txBox="1"/>
          <p:nvPr/>
        </p:nvSpPr>
        <p:spPr>
          <a:xfrm>
            <a:off x="1234440" y="2514600"/>
            <a:ext cx="1024128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5000"/>
              </a:lnSpc>
            </a:pPr>
            <a:r>
              <a:rPr lang="en-US" sz="4000" b="1" dirty="0">
                <a:solidFill>
                  <a:srgbClr val="F2EFE6"/>
                </a:solidFill>
                <a:latin typeface="Aptos Display"/>
              </a:rPr>
              <a:t>Growth Plan &amp;</a:t>
            </a:r>
          </a:p>
          <a:p>
            <a:pPr algn="l">
              <a:lnSpc>
                <a:spcPct val="105000"/>
              </a:lnSpc>
            </a:pPr>
            <a:r>
              <a:rPr lang="en-US" sz="4000" b="1" dirty="0">
                <a:solidFill>
                  <a:srgbClr val="F2EFE6"/>
                </a:solidFill>
                <a:latin typeface="Aptos Display"/>
              </a:rPr>
              <a:t>2026 Action Plan</a:t>
            </a:r>
          </a:p>
        </p:txBody>
      </p:sp>
      <p:sp>
        <p:nvSpPr>
          <p:cNvPr id="5" name="t5"/>
          <p:cNvSpPr txBox="1"/>
          <p:nvPr/>
        </p:nvSpPr>
        <p:spPr>
          <a:xfrm>
            <a:off x="1234440" y="457200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700" b="0" dirty="0">
                <a:solidFill>
                  <a:srgbClr val="9FAE95"/>
                </a:solidFill>
                <a:latin typeface="Aptos"/>
              </a:rPr>
              <a:t>How we double the company — and win the year that makes it possible.</a:t>
            </a:r>
          </a:p>
        </p:txBody>
      </p:sp>
      <p:sp>
        <p:nvSpPr>
          <p:cNvPr id="6" name="t6"/>
          <p:cNvSpPr txBox="1"/>
          <p:nvPr/>
        </p:nvSpPr>
        <p:spPr>
          <a:xfrm>
            <a:off x="1234440" y="585216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Confidential  ·  Prepared for Jason Wade  ·  July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7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THE BIG PICTURE</a:t>
            </a:r>
          </a:p>
        </p:txBody>
      </p:sp>
      <p:sp>
        <p:nvSpPr>
          <p:cNvPr id="8" name="t8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A partner is buying the company to grow it</a:t>
            </a:r>
          </a:p>
        </p:txBody>
      </p:sp>
      <p:sp>
        <p:nvSpPr>
          <p:cNvPr id="9" name="r9"/>
          <p:cNvSpPr/>
          <p:nvPr/>
        </p:nvSpPr>
        <p:spPr>
          <a:xfrm>
            <a:off x="822960" y="2743200"/>
            <a:ext cx="3383280" cy="23774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0" name="t10"/>
          <p:cNvSpPr txBox="1"/>
          <p:nvPr/>
        </p:nvSpPr>
        <p:spPr>
          <a:xfrm>
            <a:off x="822960" y="3063240"/>
            <a:ext cx="338328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400" b="1" dirty="0">
                <a:solidFill>
                  <a:srgbClr val="B9D77A"/>
                </a:solidFill>
                <a:latin typeface="Aptos Display"/>
              </a:rPr>
              <a:t>Fort Point</a:t>
            </a:r>
          </a:p>
        </p:txBody>
      </p:sp>
      <p:sp>
        <p:nvSpPr>
          <p:cNvPr id="11" name="t11"/>
          <p:cNvSpPr txBox="1"/>
          <p:nvPr/>
        </p:nvSpPr>
        <p:spPr>
          <a:xfrm>
            <a:off x="1097280" y="4114800"/>
            <a:ext cx="283464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A private-equity firm is buying Great Scott from Scott.</a:t>
            </a:r>
          </a:p>
        </p:txBody>
      </p:sp>
      <p:sp>
        <p:nvSpPr>
          <p:cNvPr id="12" name="r12"/>
          <p:cNvSpPr/>
          <p:nvPr/>
        </p:nvSpPr>
        <p:spPr>
          <a:xfrm>
            <a:off x="4434840" y="2743200"/>
            <a:ext cx="3291840" cy="23774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3" name="t13"/>
          <p:cNvSpPr txBox="1"/>
          <p:nvPr/>
        </p:nvSpPr>
        <p:spPr>
          <a:xfrm>
            <a:off x="4434840" y="3063240"/>
            <a:ext cx="329184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400" b="1" dirty="0">
                <a:solidFill>
                  <a:srgbClr val="D99028"/>
                </a:solidFill>
                <a:latin typeface="Aptos Display"/>
              </a:rPr>
              <a:t>Grow, then sell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4709159" y="4114800"/>
            <a:ext cx="27432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Their whole model: make it bigger over ~5 years, then sell it for more.</a:t>
            </a:r>
          </a:p>
        </p:txBody>
      </p:sp>
      <p:sp>
        <p:nvSpPr>
          <p:cNvPr id="15" name="r15"/>
          <p:cNvSpPr/>
          <p:nvPr/>
        </p:nvSpPr>
        <p:spPr>
          <a:xfrm>
            <a:off x="7955279" y="2743200"/>
            <a:ext cx="3383280" cy="23774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6" name="t16"/>
          <p:cNvSpPr txBox="1"/>
          <p:nvPr/>
        </p:nvSpPr>
        <p:spPr>
          <a:xfrm>
            <a:off x="7955279" y="3063240"/>
            <a:ext cx="338328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400" b="1" dirty="0">
                <a:solidFill>
                  <a:srgbClr val="B9D77A"/>
                </a:solidFill>
                <a:latin typeface="Aptos Display"/>
              </a:rPr>
              <a:t>You share in it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8229600" y="4114800"/>
            <a:ext cx="283464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As a key leader you get company equity — you win when it grows.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19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HOW TO READ THIS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Two plans, one story</a:t>
            </a:r>
          </a:p>
        </p:txBody>
      </p:sp>
      <p:sp>
        <p:nvSpPr>
          <p:cNvPr id="21" name="r21"/>
          <p:cNvSpPr/>
          <p:nvPr/>
        </p:nvSpPr>
        <p:spPr>
          <a:xfrm>
            <a:off x="822960" y="2377440"/>
            <a:ext cx="4937760" cy="32004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2" name="r22"/>
          <p:cNvSpPr/>
          <p:nvPr/>
        </p:nvSpPr>
        <p:spPr>
          <a:xfrm>
            <a:off x="822960" y="2377440"/>
            <a:ext cx="4937760" cy="164592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23" name="t23"/>
          <p:cNvSpPr txBox="1"/>
          <p:nvPr/>
        </p:nvSpPr>
        <p:spPr>
          <a:xfrm>
            <a:off x="1143000" y="2697480"/>
            <a:ext cx="438912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PLAN A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1143000" y="3154680"/>
            <a:ext cx="438912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F2EFE6"/>
                </a:solidFill>
                <a:latin typeface="Aptos Display"/>
              </a:rPr>
              <a:t>The 5-year growth story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1143000" y="3977639"/>
            <a:ext cx="438912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Double the company: $24M → $50M. Where the growth comes from and what it's worth.</a:t>
            </a:r>
          </a:p>
        </p:txBody>
      </p:sp>
      <p:sp>
        <p:nvSpPr>
          <p:cNvPr id="26" name="r26"/>
          <p:cNvSpPr/>
          <p:nvPr/>
        </p:nvSpPr>
        <p:spPr>
          <a:xfrm>
            <a:off x="6400800" y="2377440"/>
            <a:ext cx="4937760" cy="32004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7" name="r27"/>
          <p:cNvSpPr/>
          <p:nvPr/>
        </p:nvSpPr>
        <p:spPr>
          <a:xfrm>
            <a:off x="6400800" y="2377440"/>
            <a:ext cx="4937760" cy="164592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28" name="t28"/>
          <p:cNvSpPr txBox="1"/>
          <p:nvPr/>
        </p:nvSpPr>
        <p:spPr>
          <a:xfrm>
            <a:off x="6720840" y="2697480"/>
            <a:ext cx="438912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D99028"/>
                </a:solidFill>
                <a:latin typeface="Aptos"/>
              </a:rPr>
              <a:t>PLAN B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6720840" y="3154680"/>
            <a:ext cx="438912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F2EFE6"/>
                </a:solidFill>
                <a:latin typeface="Aptos Display"/>
              </a:rPr>
              <a:t>Winning 2026</a:t>
            </a:r>
          </a:p>
        </p:txBody>
      </p:sp>
      <p:sp>
        <p:nvSpPr>
          <p:cNvPr id="30" name="t30"/>
          <p:cNvSpPr txBox="1"/>
          <p:nvPr/>
        </p:nvSpPr>
        <p:spPr>
          <a:xfrm>
            <a:off x="6720840" y="3977639"/>
            <a:ext cx="4389120" cy="13716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The year that's behind — and the plan to fix it, which unlocks a multi-million-dollar bonus.</a:t>
            </a:r>
          </a:p>
        </p:txBody>
      </p:sp>
      <p:sp>
        <p:nvSpPr>
          <p:cNvPr id="31" name="t31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Plan B pays for Plan A. Win the next 5 months to win the next 5 years.</a:t>
            </a:r>
          </a:p>
        </p:txBody>
      </p:sp>
      <p:sp>
        <p:nvSpPr>
          <p:cNvPr id="32" name="t32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3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GOAL</a:t>
            </a:r>
          </a:p>
        </p:txBody>
      </p:sp>
      <p:sp>
        <p:nvSpPr>
          <p:cNvPr id="34" name="t3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Double the company in 5 years</a:t>
            </a:r>
          </a:p>
        </p:txBody>
      </p:sp>
      <p:sp>
        <p:nvSpPr>
          <p:cNvPr id="35" name="r35"/>
          <p:cNvSpPr/>
          <p:nvPr/>
        </p:nvSpPr>
        <p:spPr>
          <a:xfrm>
            <a:off x="1463040" y="3108960"/>
            <a:ext cx="3108960" cy="219456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6" name="t36"/>
          <p:cNvSpPr txBox="1"/>
          <p:nvPr/>
        </p:nvSpPr>
        <p:spPr>
          <a:xfrm>
            <a:off x="1463040" y="3383280"/>
            <a:ext cx="310896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F2EFE6"/>
                </a:solidFill>
                <a:latin typeface="Aptos Display"/>
              </a:rPr>
              <a:t>$24M</a:t>
            </a:r>
          </a:p>
        </p:txBody>
      </p:sp>
      <p:sp>
        <p:nvSpPr>
          <p:cNvPr id="37" name="t37"/>
          <p:cNvSpPr txBox="1"/>
          <p:nvPr/>
        </p:nvSpPr>
        <p:spPr>
          <a:xfrm>
            <a:off x="1463040" y="4572000"/>
            <a:ext cx="310896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9FAE95"/>
                </a:solidFill>
                <a:latin typeface="Aptos"/>
              </a:rPr>
              <a:t>TODAY</a:t>
            </a:r>
          </a:p>
        </p:txBody>
      </p:sp>
      <p:sp>
        <p:nvSpPr>
          <p:cNvPr id="38" name="t38"/>
          <p:cNvSpPr txBox="1"/>
          <p:nvPr/>
        </p:nvSpPr>
        <p:spPr>
          <a:xfrm>
            <a:off x="4572000" y="3566160"/>
            <a:ext cx="3017520" cy="12801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54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39" name="r39"/>
          <p:cNvSpPr/>
          <p:nvPr/>
        </p:nvSpPr>
        <p:spPr>
          <a:xfrm>
            <a:off x="7589520" y="3108960"/>
            <a:ext cx="3108960" cy="219456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40" name="t40"/>
          <p:cNvSpPr txBox="1"/>
          <p:nvPr/>
        </p:nvSpPr>
        <p:spPr>
          <a:xfrm>
            <a:off x="7589520" y="3383280"/>
            <a:ext cx="310896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4400" b="1" dirty="0">
                <a:solidFill>
                  <a:srgbClr val="26332E"/>
                </a:solidFill>
                <a:latin typeface="Aptos Display"/>
              </a:rPr>
              <a:t>$50M</a:t>
            </a:r>
          </a:p>
        </p:txBody>
      </p:sp>
      <p:sp>
        <p:nvSpPr>
          <p:cNvPr id="41" name="t41"/>
          <p:cNvSpPr txBox="1"/>
          <p:nvPr/>
        </p:nvSpPr>
        <p:spPr>
          <a:xfrm>
            <a:off x="7589520" y="4572000"/>
            <a:ext cx="310896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6332E"/>
                </a:solidFill>
                <a:latin typeface="Aptos"/>
              </a:rPr>
              <a:t>YEAR 5 (2031)</a:t>
            </a:r>
          </a:p>
        </p:txBody>
      </p:sp>
      <p:sp>
        <p:nvSpPr>
          <p:cNvPr id="42" name="t42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About 15% growth a year — steady, not a miracle.</a:t>
            </a:r>
          </a:p>
        </p:txBody>
      </p:sp>
      <p:sp>
        <p:nvSpPr>
          <p:cNvPr id="43" name="t4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44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TARGETS</a:t>
            </a:r>
          </a:p>
        </p:txBody>
      </p:sp>
      <p:sp>
        <p:nvSpPr>
          <p:cNvPr id="45" name="t45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2EFE6"/>
                </a:solidFill>
                <a:latin typeface="Aptos Display"/>
              </a:rPr>
              <a:t>The 5-year targets</a:t>
            </a:r>
          </a:p>
        </p:txBody>
      </p:sp>
      <p:sp>
        <p:nvSpPr>
          <p:cNvPr id="46" name="t46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Revenue, gross profit, and EBITDA (profit) for every year of the plan.</a:t>
            </a:r>
          </a:p>
        </p:txBody>
      </p:sp>
      <p:sp>
        <p:nvSpPr>
          <p:cNvPr id="47" name="r47"/>
          <p:cNvSpPr/>
          <p:nvPr/>
        </p:nvSpPr>
        <p:spPr>
          <a:xfrm>
            <a:off x="1188720" y="2148840"/>
            <a:ext cx="10058400" cy="475488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48" name="t48"/>
          <p:cNvSpPr txBox="1"/>
          <p:nvPr/>
        </p:nvSpPr>
        <p:spPr>
          <a:xfrm>
            <a:off x="1325880" y="2148840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Year</a:t>
            </a:r>
          </a:p>
        </p:txBody>
      </p:sp>
      <p:sp>
        <p:nvSpPr>
          <p:cNvPr id="49" name="t49"/>
          <p:cNvSpPr txBox="1"/>
          <p:nvPr/>
        </p:nvSpPr>
        <p:spPr>
          <a:xfrm>
            <a:off x="3520440" y="2148840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Revenue</a:t>
            </a:r>
          </a:p>
        </p:txBody>
      </p:sp>
      <p:sp>
        <p:nvSpPr>
          <p:cNvPr id="50" name="t50"/>
          <p:cNvSpPr txBox="1"/>
          <p:nvPr/>
        </p:nvSpPr>
        <p:spPr>
          <a:xfrm>
            <a:off x="6263640" y="2148840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Gross Profit</a:t>
            </a:r>
          </a:p>
        </p:txBody>
      </p:sp>
      <p:sp>
        <p:nvSpPr>
          <p:cNvPr id="51" name="t51"/>
          <p:cNvSpPr txBox="1"/>
          <p:nvPr/>
        </p:nvSpPr>
        <p:spPr>
          <a:xfrm>
            <a:off x="8823960" y="2148840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EBITDA (profit)</a:t>
            </a:r>
          </a:p>
        </p:txBody>
      </p:sp>
      <p:sp>
        <p:nvSpPr>
          <p:cNvPr id="52" name="r52"/>
          <p:cNvSpPr/>
          <p:nvPr/>
        </p:nvSpPr>
        <p:spPr>
          <a:xfrm>
            <a:off x="1188720" y="2624328"/>
            <a:ext cx="10058400" cy="475488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53" name="t53"/>
          <p:cNvSpPr txBox="1"/>
          <p:nvPr/>
        </p:nvSpPr>
        <p:spPr>
          <a:xfrm>
            <a:off x="1325880" y="2624328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2026</a:t>
            </a:r>
          </a:p>
        </p:txBody>
      </p:sp>
      <p:sp>
        <p:nvSpPr>
          <p:cNvPr id="54" name="t54"/>
          <p:cNvSpPr txBox="1"/>
          <p:nvPr/>
        </p:nvSpPr>
        <p:spPr>
          <a:xfrm>
            <a:off x="3520440" y="2624328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$24.0M</a:t>
            </a:r>
          </a:p>
        </p:txBody>
      </p:sp>
      <p:sp>
        <p:nvSpPr>
          <p:cNvPr id="55" name="t55"/>
          <p:cNvSpPr txBox="1"/>
          <p:nvPr/>
        </p:nvSpPr>
        <p:spPr>
          <a:xfrm>
            <a:off x="6263640" y="2624328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$12.0M</a:t>
            </a:r>
          </a:p>
        </p:txBody>
      </p:sp>
      <p:sp>
        <p:nvSpPr>
          <p:cNvPr id="56" name="t56"/>
          <p:cNvSpPr txBox="1"/>
          <p:nvPr/>
        </p:nvSpPr>
        <p:spPr>
          <a:xfrm>
            <a:off x="8823960" y="2624328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$4.8M</a:t>
            </a:r>
          </a:p>
        </p:txBody>
      </p:sp>
      <p:sp>
        <p:nvSpPr>
          <p:cNvPr id="57" name="r57"/>
          <p:cNvSpPr/>
          <p:nvPr/>
        </p:nvSpPr>
        <p:spPr>
          <a:xfrm>
            <a:off x="1188720" y="3099816"/>
            <a:ext cx="10058400" cy="475488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58" name="t58"/>
          <p:cNvSpPr txBox="1"/>
          <p:nvPr/>
        </p:nvSpPr>
        <p:spPr>
          <a:xfrm>
            <a:off x="1325880" y="3099816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2027</a:t>
            </a:r>
          </a:p>
        </p:txBody>
      </p:sp>
      <p:sp>
        <p:nvSpPr>
          <p:cNvPr id="59" name="t59"/>
          <p:cNvSpPr txBox="1"/>
          <p:nvPr/>
        </p:nvSpPr>
        <p:spPr>
          <a:xfrm>
            <a:off x="3520440" y="3099816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$27.3M</a:t>
            </a:r>
          </a:p>
        </p:txBody>
      </p:sp>
      <p:sp>
        <p:nvSpPr>
          <p:cNvPr id="60" name="t60"/>
          <p:cNvSpPr txBox="1"/>
          <p:nvPr/>
        </p:nvSpPr>
        <p:spPr>
          <a:xfrm>
            <a:off x="6263640" y="3099816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$14.0M</a:t>
            </a:r>
          </a:p>
        </p:txBody>
      </p:sp>
      <p:sp>
        <p:nvSpPr>
          <p:cNvPr id="61" name="t61"/>
          <p:cNvSpPr txBox="1"/>
          <p:nvPr/>
        </p:nvSpPr>
        <p:spPr>
          <a:xfrm>
            <a:off x="8823960" y="3099816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$5.7M</a:t>
            </a:r>
          </a:p>
        </p:txBody>
      </p:sp>
      <p:sp>
        <p:nvSpPr>
          <p:cNvPr id="62" name="r62"/>
          <p:cNvSpPr/>
          <p:nvPr/>
        </p:nvSpPr>
        <p:spPr>
          <a:xfrm>
            <a:off x="1188720" y="3575304"/>
            <a:ext cx="10058400" cy="475488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63" name="t63"/>
          <p:cNvSpPr txBox="1"/>
          <p:nvPr/>
        </p:nvSpPr>
        <p:spPr>
          <a:xfrm>
            <a:off x="1325880" y="3575304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2028</a:t>
            </a:r>
          </a:p>
        </p:txBody>
      </p:sp>
      <p:sp>
        <p:nvSpPr>
          <p:cNvPr id="64" name="t64"/>
          <p:cNvSpPr txBox="1"/>
          <p:nvPr/>
        </p:nvSpPr>
        <p:spPr>
          <a:xfrm>
            <a:off x="3520440" y="3575304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$31.3M</a:t>
            </a:r>
          </a:p>
        </p:txBody>
      </p:sp>
      <p:sp>
        <p:nvSpPr>
          <p:cNvPr id="65" name="t65"/>
          <p:cNvSpPr txBox="1"/>
          <p:nvPr/>
        </p:nvSpPr>
        <p:spPr>
          <a:xfrm>
            <a:off x="6263640" y="3575304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$16.3M</a:t>
            </a:r>
          </a:p>
        </p:txBody>
      </p:sp>
      <p:sp>
        <p:nvSpPr>
          <p:cNvPr id="66" name="t66"/>
          <p:cNvSpPr txBox="1"/>
          <p:nvPr/>
        </p:nvSpPr>
        <p:spPr>
          <a:xfrm>
            <a:off x="8823960" y="3575304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$6.9M</a:t>
            </a:r>
          </a:p>
        </p:txBody>
      </p:sp>
      <p:sp>
        <p:nvSpPr>
          <p:cNvPr id="67" name="r67"/>
          <p:cNvSpPr/>
          <p:nvPr/>
        </p:nvSpPr>
        <p:spPr>
          <a:xfrm>
            <a:off x="1188720" y="4050791"/>
            <a:ext cx="10058400" cy="475488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68" name="t68"/>
          <p:cNvSpPr txBox="1"/>
          <p:nvPr/>
        </p:nvSpPr>
        <p:spPr>
          <a:xfrm>
            <a:off x="1325880" y="4050791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2029</a:t>
            </a:r>
          </a:p>
        </p:txBody>
      </p:sp>
      <p:sp>
        <p:nvSpPr>
          <p:cNvPr id="69" name="t69"/>
          <p:cNvSpPr txBox="1"/>
          <p:nvPr/>
        </p:nvSpPr>
        <p:spPr>
          <a:xfrm>
            <a:off x="3520440" y="4050791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$36.1M</a:t>
            </a:r>
          </a:p>
        </p:txBody>
      </p:sp>
      <p:sp>
        <p:nvSpPr>
          <p:cNvPr id="70" name="t70"/>
          <p:cNvSpPr txBox="1"/>
          <p:nvPr/>
        </p:nvSpPr>
        <p:spPr>
          <a:xfrm>
            <a:off x="6263640" y="4050791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$19.0M</a:t>
            </a:r>
          </a:p>
        </p:txBody>
      </p:sp>
      <p:sp>
        <p:nvSpPr>
          <p:cNvPr id="71" name="t71"/>
          <p:cNvSpPr txBox="1"/>
          <p:nvPr/>
        </p:nvSpPr>
        <p:spPr>
          <a:xfrm>
            <a:off x="8823960" y="4050791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$8.3M</a:t>
            </a:r>
          </a:p>
        </p:txBody>
      </p:sp>
      <p:sp>
        <p:nvSpPr>
          <p:cNvPr id="72" name="r72"/>
          <p:cNvSpPr/>
          <p:nvPr/>
        </p:nvSpPr>
        <p:spPr>
          <a:xfrm>
            <a:off x="1188720" y="4526280"/>
            <a:ext cx="10058400" cy="475488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73" name="t73"/>
          <p:cNvSpPr txBox="1"/>
          <p:nvPr/>
        </p:nvSpPr>
        <p:spPr>
          <a:xfrm>
            <a:off x="1325880" y="4526280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2030</a:t>
            </a:r>
          </a:p>
        </p:txBody>
      </p:sp>
      <p:sp>
        <p:nvSpPr>
          <p:cNvPr id="74" name="t74"/>
          <p:cNvSpPr txBox="1"/>
          <p:nvPr/>
        </p:nvSpPr>
        <p:spPr>
          <a:xfrm>
            <a:off x="3520440" y="4526280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$42.2M</a:t>
            </a:r>
          </a:p>
        </p:txBody>
      </p:sp>
      <p:sp>
        <p:nvSpPr>
          <p:cNvPr id="75" name="t75"/>
          <p:cNvSpPr txBox="1"/>
          <p:nvPr/>
        </p:nvSpPr>
        <p:spPr>
          <a:xfrm>
            <a:off x="6263640" y="4526280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$22.4M</a:t>
            </a:r>
          </a:p>
        </p:txBody>
      </p:sp>
      <p:sp>
        <p:nvSpPr>
          <p:cNvPr id="76" name="t76"/>
          <p:cNvSpPr txBox="1"/>
          <p:nvPr/>
        </p:nvSpPr>
        <p:spPr>
          <a:xfrm>
            <a:off x="8823960" y="4526280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$10.1M</a:t>
            </a:r>
          </a:p>
        </p:txBody>
      </p:sp>
      <p:sp>
        <p:nvSpPr>
          <p:cNvPr id="77" name="r77"/>
          <p:cNvSpPr/>
          <p:nvPr/>
        </p:nvSpPr>
        <p:spPr>
          <a:xfrm>
            <a:off x="1188720" y="5001768"/>
            <a:ext cx="10058400" cy="475488"/>
          </a:xfrm>
          <a:prstGeom prst="rect">
            <a:avLst/>
          </a:prstGeom>
          <a:solidFill>
            <a:srgbClr val="2E3F2C"/>
          </a:solidFill>
          <a:ln w="19050">
            <a:solidFill>
              <a:srgbClr val="B9D77A"/>
            </a:solidFill>
          </a:ln>
        </p:spPr>
        <p:txBody>
          <a:bodyPr/>
          <a:p/>
        </p:txBody>
      </p:sp>
      <p:sp>
        <p:nvSpPr>
          <p:cNvPr id="78" name="t78"/>
          <p:cNvSpPr txBox="1"/>
          <p:nvPr/>
        </p:nvSpPr>
        <p:spPr>
          <a:xfrm>
            <a:off x="1325880" y="5001768"/>
            <a:ext cx="201167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2031</a:t>
            </a:r>
          </a:p>
        </p:txBody>
      </p:sp>
      <p:sp>
        <p:nvSpPr>
          <p:cNvPr id="79" name="t79"/>
          <p:cNvSpPr txBox="1"/>
          <p:nvPr/>
        </p:nvSpPr>
        <p:spPr>
          <a:xfrm>
            <a:off x="3520440" y="5001768"/>
            <a:ext cx="2560320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$50.0M</a:t>
            </a:r>
          </a:p>
        </p:txBody>
      </p:sp>
      <p:sp>
        <p:nvSpPr>
          <p:cNvPr id="80" name="t80"/>
          <p:cNvSpPr txBox="1"/>
          <p:nvPr/>
        </p:nvSpPr>
        <p:spPr>
          <a:xfrm>
            <a:off x="6263640" y="5001768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$26.5M</a:t>
            </a:r>
          </a:p>
        </p:txBody>
      </p:sp>
      <p:sp>
        <p:nvSpPr>
          <p:cNvPr id="81" name="t81"/>
          <p:cNvSpPr txBox="1"/>
          <p:nvPr/>
        </p:nvSpPr>
        <p:spPr>
          <a:xfrm>
            <a:off x="8823960" y="5001768"/>
            <a:ext cx="2377439" cy="475488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$12.5M</a:t>
            </a:r>
          </a:p>
        </p:txBody>
      </p:sp>
      <p:sp>
        <p:nvSpPr>
          <p:cNvPr id="82" name="t82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8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RULES</a:t>
            </a:r>
          </a:p>
        </p:txBody>
      </p:sp>
      <p:sp>
        <p:nvSpPr>
          <p:cNvPr id="84" name="t84"/>
          <p:cNvSpPr txBox="1"/>
          <p:nvPr/>
        </p:nvSpPr>
        <p:spPr>
          <a:xfrm>
            <a:off x="82296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900" b="1" dirty="0">
                <a:solidFill>
                  <a:srgbClr val="F2EFE6"/>
                </a:solidFill>
                <a:latin typeface="Aptos Display"/>
              </a:rPr>
              <a:t>They don't count sales. They count profit.</a:t>
            </a:r>
          </a:p>
        </p:txBody>
      </p:sp>
      <p:sp>
        <p:nvSpPr>
          <p:cNvPr id="85" name="r85"/>
          <p:cNvSpPr/>
          <p:nvPr/>
        </p:nvSpPr>
        <p:spPr>
          <a:xfrm>
            <a:off x="822960" y="2468880"/>
            <a:ext cx="10515600" cy="96012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86" name="t86"/>
          <p:cNvSpPr txBox="1"/>
          <p:nvPr/>
        </p:nvSpPr>
        <p:spPr>
          <a:xfrm>
            <a:off x="1143000" y="2651760"/>
            <a:ext cx="1005840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F2EFE6"/>
                </a:solidFill>
                <a:latin typeface="Aptos"/>
              </a:rPr>
              <a:t>The price they pay — and the value of your equity — are based on PROFIT, not revenue.</a:t>
            </a:r>
          </a:p>
        </p:txBody>
      </p:sp>
      <p:sp>
        <p:nvSpPr>
          <p:cNvPr id="87" name="t87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So every plan from here is measured two ways:</a:t>
            </a:r>
          </a:p>
        </p:txBody>
      </p:sp>
      <p:sp>
        <p:nvSpPr>
          <p:cNvPr id="88" name="r88"/>
          <p:cNvSpPr/>
          <p:nvPr/>
        </p:nvSpPr>
        <p:spPr>
          <a:xfrm>
            <a:off x="822960" y="4297680"/>
            <a:ext cx="5029200" cy="155448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89" name="t89"/>
          <p:cNvSpPr txBox="1"/>
          <p:nvPr/>
        </p:nvSpPr>
        <p:spPr>
          <a:xfrm>
            <a:off x="1143000" y="4526280"/>
            <a:ext cx="448056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B9D77A"/>
                </a:solidFill>
                <a:latin typeface="Aptos Display"/>
              </a:rPr>
              <a:t>Gross Profit</a:t>
            </a:r>
          </a:p>
        </p:txBody>
      </p:sp>
      <p:sp>
        <p:nvSpPr>
          <p:cNvPr id="90" name="t90"/>
          <p:cNvSpPr txBox="1"/>
          <p:nvPr/>
        </p:nvSpPr>
        <p:spPr>
          <a:xfrm>
            <a:off x="1143000" y="5074920"/>
            <a:ext cx="448056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What's left after the cost of doing the work.</a:t>
            </a:r>
          </a:p>
        </p:txBody>
      </p:sp>
      <p:sp>
        <p:nvSpPr>
          <p:cNvPr id="91" name="r91"/>
          <p:cNvSpPr/>
          <p:nvPr/>
        </p:nvSpPr>
        <p:spPr>
          <a:xfrm>
            <a:off x="6309360" y="4297680"/>
            <a:ext cx="5029200" cy="155448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92" name="t92"/>
          <p:cNvSpPr txBox="1"/>
          <p:nvPr/>
        </p:nvSpPr>
        <p:spPr>
          <a:xfrm>
            <a:off x="6629400" y="4526280"/>
            <a:ext cx="448056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900" b="1" dirty="0">
                <a:solidFill>
                  <a:srgbClr val="D99028"/>
                </a:solidFill>
                <a:latin typeface="Aptos Display"/>
              </a:rPr>
              <a:t>EBITDA</a:t>
            </a:r>
          </a:p>
        </p:txBody>
      </p:sp>
      <p:sp>
        <p:nvSpPr>
          <p:cNvPr id="93" name="t93"/>
          <p:cNvSpPr txBox="1"/>
          <p:nvPr/>
        </p:nvSpPr>
        <p:spPr>
          <a:xfrm>
            <a:off x="6629400" y="5074920"/>
            <a:ext cx="448056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Profit after all running costs — the number the price is built on.</a:t>
            </a:r>
          </a:p>
        </p:txBody>
      </p:sp>
      <p:sp>
        <p:nvSpPr>
          <p:cNvPr id="94" name="t9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113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PAYOFF ENGINE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Profit more than doubles</a:t>
            </a:r>
          </a:p>
        </p:txBody>
      </p:sp>
      <p:sp>
        <p:nvSpPr>
          <p:cNvPr id="115" name="t115"/>
          <p:cNvSpPr txBox="1"/>
          <p:nvPr/>
        </p:nvSpPr>
        <p:spPr>
          <a:xfrm>
            <a:off x="822960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Yearly EBITDA (profit) as the plan builds — this is what grows the company's value.</a:t>
            </a:r>
          </a:p>
        </p:txBody>
      </p:sp>
      <p:sp>
        <p:nvSpPr>
          <p:cNvPr id="95" name="r95"/>
          <p:cNvSpPr/>
          <p:nvPr/>
        </p:nvSpPr>
        <p:spPr>
          <a:xfrm>
            <a:off x="1463040" y="4454225"/>
            <a:ext cx="1234440" cy="1123614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96" name="t96"/>
          <p:cNvSpPr txBox="1"/>
          <p:nvPr/>
        </p:nvSpPr>
        <p:spPr>
          <a:xfrm>
            <a:off x="1325880" y="3951305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$4.8M</a:t>
            </a:r>
          </a:p>
        </p:txBody>
      </p:sp>
      <p:sp>
        <p:nvSpPr>
          <p:cNvPr id="97" name="t97"/>
          <p:cNvSpPr txBox="1"/>
          <p:nvPr/>
        </p:nvSpPr>
        <p:spPr>
          <a:xfrm>
            <a:off x="1325880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2026</a:t>
            </a:r>
          </a:p>
        </p:txBody>
      </p:sp>
      <p:sp>
        <p:nvSpPr>
          <p:cNvPr id="98" name="r98"/>
          <p:cNvSpPr/>
          <p:nvPr/>
        </p:nvSpPr>
        <p:spPr>
          <a:xfrm>
            <a:off x="3081528" y="4243547"/>
            <a:ext cx="1234440" cy="1334292"/>
          </a:xfrm>
          <a:prstGeom prst="rect">
            <a:avLst/>
          </a:prstGeom>
          <a:solidFill>
            <a:srgbClr val="6E8A4E"/>
          </a:solidFill>
          <a:ln>
            <a:noFill/>
          </a:ln>
        </p:spPr>
        <p:txBody>
          <a:bodyPr/>
          <a:p/>
        </p:txBody>
      </p:sp>
      <p:sp>
        <p:nvSpPr>
          <p:cNvPr id="99" name="t99"/>
          <p:cNvSpPr txBox="1"/>
          <p:nvPr/>
        </p:nvSpPr>
        <p:spPr>
          <a:xfrm>
            <a:off x="2944368" y="3740627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$5.7M</a:t>
            </a:r>
          </a:p>
        </p:txBody>
      </p:sp>
      <p:sp>
        <p:nvSpPr>
          <p:cNvPr id="100" name="t100"/>
          <p:cNvSpPr txBox="1"/>
          <p:nvPr/>
        </p:nvSpPr>
        <p:spPr>
          <a:xfrm>
            <a:off x="2944368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2027</a:t>
            </a:r>
          </a:p>
        </p:txBody>
      </p:sp>
      <p:sp>
        <p:nvSpPr>
          <p:cNvPr id="101" name="r101"/>
          <p:cNvSpPr/>
          <p:nvPr/>
        </p:nvSpPr>
        <p:spPr>
          <a:xfrm>
            <a:off x="4700016" y="3962643"/>
            <a:ext cx="1234440" cy="1615196"/>
          </a:xfrm>
          <a:prstGeom prst="rect">
            <a:avLst/>
          </a:prstGeom>
          <a:solidFill>
            <a:srgbClr val="6E8A4E"/>
          </a:solidFill>
          <a:ln>
            <a:noFill/>
          </a:ln>
        </p:spPr>
        <p:txBody>
          <a:bodyPr/>
          <a:p/>
        </p:txBody>
      </p:sp>
      <p:sp>
        <p:nvSpPr>
          <p:cNvPr id="102" name="t102"/>
          <p:cNvSpPr txBox="1"/>
          <p:nvPr/>
        </p:nvSpPr>
        <p:spPr>
          <a:xfrm>
            <a:off x="4562856" y="3459723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$6.9M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4562856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2028</a:t>
            </a:r>
          </a:p>
        </p:txBody>
      </p:sp>
      <p:sp>
        <p:nvSpPr>
          <p:cNvPr id="104" name="r104"/>
          <p:cNvSpPr/>
          <p:nvPr/>
        </p:nvSpPr>
        <p:spPr>
          <a:xfrm>
            <a:off x="6318504" y="3634922"/>
            <a:ext cx="1234440" cy="1942917"/>
          </a:xfrm>
          <a:prstGeom prst="rect">
            <a:avLst/>
          </a:prstGeom>
          <a:solidFill>
            <a:srgbClr val="6E8A4E"/>
          </a:solidFill>
          <a:ln>
            <a:noFill/>
          </a:ln>
        </p:spPr>
        <p:txBody>
          <a:bodyPr/>
          <a:p/>
        </p:txBody>
      </p:sp>
      <p:sp>
        <p:nvSpPr>
          <p:cNvPr id="105" name="t105"/>
          <p:cNvSpPr txBox="1"/>
          <p:nvPr/>
        </p:nvSpPr>
        <p:spPr>
          <a:xfrm>
            <a:off x="6181344" y="3132002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$8.3M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6181344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2029</a:t>
            </a:r>
          </a:p>
        </p:txBody>
      </p:sp>
      <p:sp>
        <p:nvSpPr>
          <p:cNvPr id="107" name="r107"/>
          <p:cNvSpPr/>
          <p:nvPr/>
        </p:nvSpPr>
        <p:spPr>
          <a:xfrm>
            <a:off x="7936992" y="3213567"/>
            <a:ext cx="1234440" cy="2364272"/>
          </a:xfrm>
          <a:prstGeom prst="rect">
            <a:avLst/>
          </a:prstGeom>
          <a:solidFill>
            <a:srgbClr val="6E8A4E"/>
          </a:solidFill>
          <a:ln>
            <a:noFill/>
          </a:ln>
        </p:spPr>
        <p:txBody>
          <a:bodyPr/>
          <a:p/>
        </p:txBody>
      </p:sp>
      <p:sp>
        <p:nvSpPr>
          <p:cNvPr id="108" name="t108"/>
          <p:cNvSpPr txBox="1"/>
          <p:nvPr/>
        </p:nvSpPr>
        <p:spPr>
          <a:xfrm>
            <a:off x="7799831" y="2710647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$10.1M</a:t>
            </a:r>
          </a:p>
        </p:txBody>
      </p:sp>
      <p:sp>
        <p:nvSpPr>
          <p:cNvPr id="109" name="t109"/>
          <p:cNvSpPr txBox="1"/>
          <p:nvPr/>
        </p:nvSpPr>
        <p:spPr>
          <a:xfrm>
            <a:off x="7799831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2030</a:t>
            </a:r>
          </a:p>
        </p:txBody>
      </p:sp>
      <p:sp>
        <p:nvSpPr>
          <p:cNvPr id="110" name="r110"/>
          <p:cNvSpPr/>
          <p:nvPr/>
        </p:nvSpPr>
        <p:spPr>
          <a:xfrm>
            <a:off x="9555480" y="2651759"/>
            <a:ext cx="1234440" cy="2926080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111" name="t111"/>
          <p:cNvSpPr txBox="1"/>
          <p:nvPr/>
        </p:nvSpPr>
        <p:spPr>
          <a:xfrm>
            <a:off x="9418319" y="2148839"/>
            <a:ext cx="150876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$12.5M</a:t>
            </a:r>
          </a:p>
        </p:txBody>
      </p:sp>
      <p:sp>
        <p:nvSpPr>
          <p:cNvPr id="112" name="t112"/>
          <p:cNvSpPr txBox="1"/>
          <p:nvPr/>
        </p:nvSpPr>
        <p:spPr>
          <a:xfrm>
            <a:off x="9418319" y="5669279"/>
            <a:ext cx="150876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200" b="0" dirty="0">
                <a:solidFill>
                  <a:srgbClr val="9FAE95"/>
                </a:solidFill>
                <a:latin typeface="Aptos"/>
              </a:rPr>
              <a:t>2031</a:t>
            </a:r>
          </a:p>
        </p:txBody>
      </p:sp>
      <p:sp>
        <p:nvSpPr>
          <p:cNvPr id="116" name="t116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117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WHERE THE GROWTH COMES FROM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Three places — in the right order</a:t>
            </a:r>
          </a:p>
        </p:txBody>
      </p:sp>
      <p:sp>
        <p:nvSpPr>
          <p:cNvPr id="119" name="r119"/>
          <p:cNvSpPr/>
          <p:nvPr/>
        </p:nvSpPr>
        <p:spPr>
          <a:xfrm>
            <a:off x="822960" y="2468880"/>
            <a:ext cx="3383280" cy="310896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20" name="r120"/>
          <p:cNvSpPr/>
          <p:nvPr/>
        </p:nvSpPr>
        <p:spPr>
          <a:xfrm>
            <a:off x="822960" y="2468880"/>
            <a:ext cx="3383280" cy="146304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121" name="t121"/>
          <p:cNvSpPr txBox="1"/>
          <p:nvPr/>
        </p:nvSpPr>
        <p:spPr>
          <a:xfrm>
            <a:off x="1097280" y="2743200"/>
            <a:ext cx="28346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F2EFE6"/>
                </a:solidFill>
                <a:latin typeface="Aptos Display"/>
              </a:rPr>
              <a:t>LA County</a:t>
            </a:r>
          </a:p>
        </p:txBody>
      </p:sp>
      <p:sp>
        <p:nvSpPr>
          <p:cNvPr id="122" name="t122"/>
          <p:cNvSpPr txBox="1"/>
          <p:nvPr/>
        </p:nvSpPr>
        <p:spPr>
          <a:xfrm>
            <a:off x="1097280" y="3429000"/>
            <a:ext cx="283464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LEADS EARLY</a:t>
            </a:r>
          </a:p>
        </p:txBody>
      </p:sp>
      <p:sp>
        <p:nvSpPr>
          <p:cNvPr id="123" name="t123"/>
          <p:cNvSpPr txBox="1"/>
          <p:nvPr/>
        </p:nvSpPr>
        <p:spPr>
          <a:xfrm>
            <a:off x="1097280" y="3977639"/>
            <a:ext cx="283464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We're already there ($2.9M). Warm to grow — and the 2028 Olympics brings a wave of work.</a:t>
            </a:r>
          </a:p>
        </p:txBody>
      </p:sp>
      <p:sp>
        <p:nvSpPr>
          <p:cNvPr id="124" name="r124"/>
          <p:cNvSpPr/>
          <p:nvPr/>
        </p:nvSpPr>
        <p:spPr>
          <a:xfrm>
            <a:off x="4434840" y="2468880"/>
            <a:ext cx="3291840" cy="310896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25" name="r125"/>
          <p:cNvSpPr/>
          <p:nvPr/>
        </p:nvSpPr>
        <p:spPr>
          <a:xfrm>
            <a:off x="4434840" y="2468880"/>
            <a:ext cx="3291840" cy="146304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126" name="t126"/>
          <p:cNvSpPr txBox="1"/>
          <p:nvPr/>
        </p:nvSpPr>
        <p:spPr>
          <a:xfrm>
            <a:off x="4709159" y="2743200"/>
            <a:ext cx="274320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F2EFE6"/>
                </a:solidFill>
                <a:latin typeface="Aptos Display"/>
              </a:rPr>
              <a:t>Inland Empire</a:t>
            </a:r>
          </a:p>
        </p:txBody>
      </p:sp>
      <p:sp>
        <p:nvSpPr>
          <p:cNvPr id="127" name="t127"/>
          <p:cNvSpPr txBox="1"/>
          <p:nvPr/>
        </p:nvSpPr>
        <p:spPr>
          <a:xfrm>
            <a:off x="4709159" y="3429000"/>
            <a:ext cx="27432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BUILDS LATER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4709159" y="3977639"/>
            <a:ext cx="274320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Brand new for us. Cheap to enter, next to home — but starts from zero, so it pays off in the back half.</a:t>
            </a:r>
          </a:p>
        </p:txBody>
      </p:sp>
      <p:sp>
        <p:nvSpPr>
          <p:cNvPr id="129" name="r129"/>
          <p:cNvSpPr/>
          <p:nvPr/>
        </p:nvSpPr>
        <p:spPr>
          <a:xfrm>
            <a:off x="7955279" y="2468880"/>
            <a:ext cx="3383280" cy="310896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30" name="r130"/>
          <p:cNvSpPr/>
          <p:nvPr/>
        </p:nvSpPr>
        <p:spPr>
          <a:xfrm>
            <a:off x="7955279" y="2468880"/>
            <a:ext cx="3383280" cy="146304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131" name="t131"/>
          <p:cNvSpPr txBox="1"/>
          <p:nvPr/>
        </p:nvSpPr>
        <p:spPr>
          <a:xfrm>
            <a:off x="8229600" y="2743200"/>
            <a:ext cx="283464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200" b="1" dirty="0">
                <a:solidFill>
                  <a:srgbClr val="F2EFE6"/>
                </a:solidFill>
                <a:latin typeface="Aptos Display"/>
              </a:rPr>
              <a:t>Orange County</a:t>
            </a:r>
          </a:p>
        </p:txBody>
      </p:sp>
      <p:sp>
        <p:nvSpPr>
          <p:cNvPr id="132" name="t132"/>
          <p:cNvSpPr txBox="1"/>
          <p:nvPr/>
        </p:nvSpPr>
        <p:spPr>
          <a:xfrm>
            <a:off x="8229600" y="3429000"/>
            <a:ext cx="283464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DEEPEN</a:t>
            </a:r>
          </a:p>
        </p:txBody>
      </p:sp>
      <p:sp>
        <p:nvSpPr>
          <p:cNvPr id="133" name="t133"/>
          <p:cNvSpPr txBox="1"/>
          <p:nvPr/>
        </p:nvSpPr>
        <p:spPr>
          <a:xfrm>
            <a:off x="8229600" y="3977639"/>
            <a:ext cx="2834640" cy="1463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Our backyard. We leave money on the table here — better sales wins more of what's already ours.</a:t>
            </a:r>
          </a:p>
        </p:txBody>
      </p:sp>
      <p:sp>
        <p:nvSpPr>
          <p:cNvPr id="134" name="t13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135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BREAKDOWN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2EFE6"/>
                </a:solidFill>
                <a:latin typeface="Aptos Display"/>
              </a:rPr>
              <a:t>Revenue by market, year by year</a:t>
            </a:r>
          </a:p>
        </p:txBody>
      </p:sp>
      <p:sp>
        <p:nvSpPr>
          <p:cNvPr id="137" name="t137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OC stays the base; LA + Inland Empire grow to ~41% of the book by 2031.</a:t>
            </a:r>
          </a:p>
        </p:txBody>
      </p:sp>
      <p:sp>
        <p:nvSpPr>
          <p:cNvPr id="138" name="r138"/>
          <p:cNvSpPr/>
          <p:nvPr/>
        </p:nvSpPr>
        <p:spPr>
          <a:xfrm>
            <a:off x="1051560" y="2103120"/>
            <a:ext cx="10058400" cy="45720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39" name="t139"/>
          <p:cNvSpPr txBox="1"/>
          <p:nvPr/>
        </p:nvSpPr>
        <p:spPr>
          <a:xfrm>
            <a:off x="1188719" y="21031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Year</a:t>
            </a:r>
          </a:p>
        </p:txBody>
      </p:sp>
      <p:sp>
        <p:nvSpPr>
          <p:cNvPr id="140" name="t140"/>
          <p:cNvSpPr txBox="1"/>
          <p:nvPr/>
        </p:nvSpPr>
        <p:spPr>
          <a:xfrm>
            <a:off x="2834640" y="2103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Orange Co.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4937760" y="2103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LA County</a:t>
            </a:r>
          </a:p>
        </p:txBody>
      </p:sp>
      <p:sp>
        <p:nvSpPr>
          <p:cNvPr id="142" name="t142"/>
          <p:cNvSpPr txBox="1"/>
          <p:nvPr/>
        </p:nvSpPr>
        <p:spPr>
          <a:xfrm>
            <a:off x="7040880" y="2103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Inland Emp.</a:t>
            </a:r>
          </a:p>
        </p:txBody>
      </p:sp>
      <p:sp>
        <p:nvSpPr>
          <p:cNvPr id="143" name="t143"/>
          <p:cNvSpPr txBox="1"/>
          <p:nvPr/>
        </p:nvSpPr>
        <p:spPr>
          <a:xfrm>
            <a:off x="9144000" y="2103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Total</a:t>
            </a:r>
          </a:p>
        </p:txBody>
      </p:sp>
      <p:sp>
        <p:nvSpPr>
          <p:cNvPr id="144" name="r144"/>
          <p:cNvSpPr/>
          <p:nvPr/>
        </p:nvSpPr>
        <p:spPr>
          <a:xfrm>
            <a:off x="1051560" y="2560320"/>
            <a:ext cx="10058400" cy="457200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145" name="t145"/>
          <p:cNvSpPr txBox="1"/>
          <p:nvPr/>
        </p:nvSpPr>
        <p:spPr>
          <a:xfrm>
            <a:off x="1188719" y="25603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2026</a:t>
            </a:r>
          </a:p>
        </p:txBody>
      </p:sp>
      <p:sp>
        <p:nvSpPr>
          <p:cNvPr id="146" name="t146"/>
          <p:cNvSpPr txBox="1"/>
          <p:nvPr/>
        </p:nvSpPr>
        <p:spPr>
          <a:xfrm>
            <a:off x="2834640" y="2560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$20.4M</a:t>
            </a:r>
          </a:p>
        </p:txBody>
      </p:sp>
      <p:sp>
        <p:nvSpPr>
          <p:cNvPr id="147" name="t147"/>
          <p:cNvSpPr txBox="1"/>
          <p:nvPr/>
        </p:nvSpPr>
        <p:spPr>
          <a:xfrm>
            <a:off x="4937760" y="2560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$3.3M</a:t>
            </a:r>
          </a:p>
        </p:txBody>
      </p:sp>
      <p:sp>
        <p:nvSpPr>
          <p:cNvPr id="148" name="t148"/>
          <p:cNvSpPr txBox="1"/>
          <p:nvPr/>
        </p:nvSpPr>
        <p:spPr>
          <a:xfrm>
            <a:off x="7040880" y="2560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$0.3M</a:t>
            </a:r>
          </a:p>
        </p:txBody>
      </p:sp>
      <p:sp>
        <p:nvSpPr>
          <p:cNvPr id="149" name="t149"/>
          <p:cNvSpPr txBox="1"/>
          <p:nvPr/>
        </p:nvSpPr>
        <p:spPr>
          <a:xfrm>
            <a:off x="9144000" y="2560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$24.0M</a:t>
            </a:r>
          </a:p>
        </p:txBody>
      </p:sp>
      <p:sp>
        <p:nvSpPr>
          <p:cNvPr id="150" name="r150"/>
          <p:cNvSpPr/>
          <p:nvPr/>
        </p:nvSpPr>
        <p:spPr>
          <a:xfrm>
            <a:off x="1051560" y="3017520"/>
            <a:ext cx="10058400" cy="45720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51" name="t151"/>
          <p:cNvSpPr txBox="1"/>
          <p:nvPr/>
        </p:nvSpPr>
        <p:spPr>
          <a:xfrm>
            <a:off x="1188719" y="30175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2027</a:t>
            </a:r>
          </a:p>
        </p:txBody>
      </p:sp>
      <p:sp>
        <p:nvSpPr>
          <p:cNvPr id="152" name="t152"/>
          <p:cNvSpPr txBox="1"/>
          <p:nvPr/>
        </p:nvSpPr>
        <p:spPr>
          <a:xfrm>
            <a:off x="2834640" y="30175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$21.7M</a:t>
            </a:r>
          </a:p>
        </p:txBody>
      </p:sp>
      <p:sp>
        <p:nvSpPr>
          <p:cNvPr id="153" name="t153"/>
          <p:cNvSpPr txBox="1"/>
          <p:nvPr/>
        </p:nvSpPr>
        <p:spPr>
          <a:xfrm>
            <a:off x="4937760" y="30175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$4.8M</a:t>
            </a:r>
          </a:p>
        </p:txBody>
      </p:sp>
      <p:sp>
        <p:nvSpPr>
          <p:cNvPr id="154" name="t154"/>
          <p:cNvSpPr txBox="1"/>
          <p:nvPr/>
        </p:nvSpPr>
        <p:spPr>
          <a:xfrm>
            <a:off x="7040880" y="30175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$0.8M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9144000" y="30175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$27.3M</a:t>
            </a:r>
          </a:p>
        </p:txBody>
      </p:sp>
      <p:sp>
        <p:nvSpPr>
          <p:cNvPr id="156" name="r156"/>
          <p:cNvSpPr/>
          <p:nvPr/>
        </p:nvSpPr>
        <p:spPr>
          <a:xfrm>
            <a:off x="1051560" y="3474720"/>
            <a:ext cx="10058400" cy="457200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157" name="t157"/>
          <p:cNvSpPr txBox="1"/>
          <p:nvPr/>
        </p:nvSpPr>
        <p:spPr>
          <a:xfrm>
            <a:off x="1188719" y="34747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2028</a:t>
            </a:r>
          </a:p>
        </p:txBody>
      </p:sp>
      <p:sp>
        <p:nvSpPr>
          <p:cNvPr id="158" name="t158"/>
          <p:cNvSpPr txBox="1"/>
          <p:nvPr/>
        </p:nvSpPr>
        <p:spPr>
          <a:xfrm>
            <a:off x="2834640" y="34747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$23.0M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4937760" y="34747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$6.5M</a:t>
            </a:r>
          </a:p>
        </p:txBody>
      </p:sp>
      <p:sp>
        <p:nvSpPr>
          <p:cNvPr id="160" name="t160"/>
          <p:cNvSpPr txBox="1"/>
          <p:nvPr/>
        </p:nvSpPr>
        <p:spPr>
          <a:xfrm>
            <a:off x="7040880" y="34747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$1.8M</a:t>
            </a:r>
          </a:p>
        </p:txBody>
      </p:sp>
      <p:sp>
        <p:nvSpPr>
          <p:cNvPr id="161" name="t161"/>
          <p:cNvSpPr txBox="1"/>
          <p:nvPr/>
        </p:nvSpPr>
        <p:spPr>
          <a:xfrm>
            <a:off x="9144000" y="34747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$31.3M</a:t>
            </a:r>
          </a:p>
        </p:txBody>
      </p:sp>
      <p:sp>
        <p:nvSpPr>
          <p:cNvPr id="162" name="r162"/>
          <p:cNvSpPr/>
          <p:nvPr/>
        </p:nvSpPr>
        <p:spPr>
          <a:xfrm>
            <a:off x="1051560" y="3931920"/>
            <a:ext cx="10058400" cy="45720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63" name="t163"/>
          <p:cNvSpPr txBox="1"/>
          <p:nvPr/>
        </p:nvSpPr>
        <p:spPr>
          <a:xfrm>
            <a:off x="1188719" y="39319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2029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2834640" y="39319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$24.8M</a:t>
            </a:r>
          </a:p>
        </p:txBody>
      </p:sp>
      <p:sp>
        <p:nvSpPr>
          <p:cNvPr id="165" name="t165"/>
          <p:cNvSpPr txBox="1"/>
          <p:nvPr/>
        </p:nvSpPr>
        <p:spPr>
          <a:xfrm>
            <a:off x="4937760" y="39319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$7.5M</a:t>
            </a:r>
          </a:p>
        </p:txBody>
      </p:sp>
      <p:sp>
        <p:nvSpPr>
          <p:cNvPr id="166" name="t166"/>
          <p:cNvSpPr txBox="1"/>
          <p:nvPr/>
        </p:nvSpPr>
        <p:spPr>
          <a:xfrm>
            <a:off x="7040880" y="39319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$3.8M</a:t>
            </a:r>
          </a:p>
        </p:txBody>
      </p:sp>
      <p:sp>
        <p:nvSpPr>
          <p:cNvPr id="167" name="t167"/>
          <p:cNvSpPr txBox="1"/>
          <p:nvPr/>
        </p:nvSpPr>
        <p:spPr>
          <a:xfrm>
            <a:off x="9144000" y="39319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$36.1M</a:t>
            </a:r>
          </a:p>
        </p:txBody>
      </p:sp>
      <p:sp>
        <p:nvSpPr>
          <p:cNvPr id="168" name="r168"/>
          <p:cNvSpPr/>
          <p:nvPr/>
        </p:nvSpPr>
        <p:spPr>
          <a:xfrm>
            <a:off x="1051560" y="4389120"/>
            <a:ext cx="10058400" cy="457200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169" name="t169"/>
          <p:cNvSpPr txBox="1"/>
          <p:nvPr/>
        </p:nvSpPr>
        <p:spPr>
          <a:xfrm>
            <a:off x="1188719" y="43891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2030</a:t>
            </a:r>
          </a:p>
        </p:txBody>
      </p:sp>
      <p:sp>
        <p:nvSpPr>
          <p:cNvPr id="170" name="t170"/>
          <p:cNvSpPr txBox="1"/>
          <p:nvPr/>
        </p:nvSpPr>
        <p:spPr>
          <a:xfrm>
            <a:off x="2834640" y="4389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$26.9M</a:t>
            </a:r>
          </a:p>
        </p:txBody>
      </p:sp>
      <p:sp>
        <p:nvSpPr>
          <p:cNvPr id="171" name="t171"/>
          <p:cNvSpPr txBox="1"/>
          <p:nvPr/>
        </p:nvSpPr>
        <p:spPr>
          <a:xfrm>
            <a:off x="4937760" y="4389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$9.0M</a:t>
            </a:r>
          </a:p>
        </p:txBody>
      </p:sp>
      <p:sp>
        <p:nvSpPr>
          <p:cNvPr id="172" name="t172"/>
          <p:cNvSpPr txBox="1"/>
          <p:nvPr/>
        </p:nvSpPr>
        <p:spPr>
          <a:xfrm>
            <a:off x="7040880" y="4389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$6.3M</a:t>
            </a:r>
          </a:p>
        </p:txBody>
      </p:sp>
      <p:sp>
        <p:nvSpPr>
          <p:cNvPr id="173" name="t173"/>
          <p:cNvSpPr txBox="1"/>
          <p:nvPr/>
        </p:nvSpPr>
        <p:spPr>
          <a:xfrm>
            <a:off x="9144000" y="43891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$42.2M</a:t>
            </a:r>
          </a:p>
        </p:txBody>
      </p:sp>
      <p:sp>
        <p:nvSpPr>
          <p:cNvPr id="174" name="r174"/>
          <p:cNvSpPr/>
          <p:nvPr/>
        </p:nvSpPr>
        <p:spPr>
          <a:xfrm>
            <a:off x="1051560" y="4846320"/>
            <a:ext cx="10058400" cy="457200"/>
          </a:xfrm>
          <a:prstGeom prst="rect">
            <a:avLst/>
          </a:prstGeom>
          <a:solidFill>
            <a:srgbClr val="2E3F2C"/>
          </a:solidFill>
          <a:ln w="19050">
            <a:solidFill>
              <a:srgbClr val="B9D77A"/>
            </a:solidFill>
          </a:ln>
        </p:spPr>
        <p:txBody>
          <a:bodyPr/>
          <a:p/>
        </p:txBody>
      </p:sp>
      <p:sp>
        <p:nvSpPr>
          <p:cNvPr id="175" name="t175"/>
          <p:cNvSpPr txBox="1"/>
          <p:nvPr/>
        </p:nvSpPr>
        <p:spPr>
          <a:xfrm>
            <a:off x="1188719" y="4846320"/>
            <a:ext cx="1463040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2031</a:t>
            </a:r>
          </a:p>
        </p:txBody>
      </p:sp>
      <p:sp>
        <p:nvSpPr>
          <p:cNvPr id="176" name="t176"/>
          <p:cNvSpPr txBox="1"/>
          <p:nvPr/>
        </p:nvSpPr>
        <p:spPr>
          <a:xfrm>
            <a:off x="2834640" y="4846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$29.5M</a:t>
            </a:r>
          </a:p>
        </p:txBody>
      </p:sp>
      <p:sp>
        <p:nvSpPr>
          <p:cNvPr id="177" name="t177"/>
          <p:cNvSpPr txBox="1"/>
          <p:nvPr/>
        </p:nvSpPr>
        <p:spPr>
          <a:xfrm>
            <a:off x="4937760" y="4846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$11.0M</a:t>
            </a:r>
          </a:p>
        </p:txBody>
      </p:sp>
      <p:sp>
        <p:nvSpPr>
          <p:cNvPr id="178" name="t178"/>
          <p:cNvSpPr txBox="1"/>
          <p:nvPr/>
        </p:nvSpPr>
        <p:spPr>
          <a:xfrm>
            <a:off x="7040880" y="4846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$9.5M</a:t>
            </a:r>
          </a:p>
        </p:txBody>
      </p:sp>
      <p:sp>
        <p:nvSpPr>
          <p:cNvPr id="179" name="t179"/>
          <p:cNvSpPr txBox="1"/>
          <p:nvPr/>
        </p:nvSpPr>
        <p:spPr>
          <a:xfrm>
            <a:off x="9144000" y="4846320"/>
            <a:ext cx="1920239" cy="4572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$50.0M</a:t>
            </a:r>
          </a:p>
        </p:txBody>
      </p:sp>
      <p:sp>
        <p:nvSpPr>
          <p:cNvPr id="180" name="t180"/>
          <p:cNvSpPr txBox="1"/>
          <p:nvPr/>
        </p:nvSpPr>
        <p:spPr>
          <a:xfrm>
            <a:off x="105156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5-year growth: OC +$9.1M   ·   LA +$7.7M   ·   Inland Empire +$9.2M   ·   plus acquisitions on top</a:t>
            </a:r>
          </a:p>
        </p:txBody>
      </p:sp>
      <p:sp>
        <p:nvSpPr>
          <p:cNvPr id="181" name="t181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18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THE ACCELERATOR</a:t>
            </a:r>
          </a:p>
        </p:txBody>
      </p:sp>
      <p:sp>
        <p:nvSpPr>
          <p:cNvPr id="183" name="t183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Plus: buy other tree companies</a:t>
            </a:r>
          </a:p>
        </p:txBody>
      </p:sp>
      <p:sp>
        <p:nvSpPr>
          <p:cNvPr id="184" name="r184"/>
          <p:cNvSpPr/>
          <p:nvPr/>
        </p:nvSpPr>
        <p:spPr>
          <a:xfrm>
            <a:off x="822960" y="2468880"/>
            <a:ext cx="10515600" cy="10058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85" name="t185"/>
          <p:cNvSpPr txBox="1"/>
          <p:nvPr/>
        </p:nvSpPr>
        <p:spPr>
          <a:xfrm>
            <a:off x="1143000" y="2651760"/>
            <a:ext cx="1005840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F2EFE6"/>
                </a:solidFill>
                <a:latin typeface="Aptos"/>
              </a:rPr>
              <a:t>This is Fort Point's specialty — they've grown companies from 1 market to 14, and 4 states to 25.</a:t>
            </a:r>
          </a:p>
        </p:txBody>
      </p:sp>
      <p:sp>
        <p:nvSpPr>
          <p:cNvPr id="186" name="t186"/>
          <p:cNvSpPr txBox="1"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They bring the money and the playbook. Every company we buy adds:</a:t>
            </a:r>
          </a:p>
        </p:txBody>
      </p:sp>
      <p:sp>
        <p:nvSpPr>
          <p:cNvPr id="187" name="r187"/>
          <p:cNvSpPr/>
          <p:nvPr/>
        </p:nvSpPr>
        <p:spPr>
          <a:xfrm>
            <a:off x="822960" y="4617720"/>
            <a:ext cx="3291840" cy="118872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88" name="r188"/>
          <p:cNvSpPr/>
          <p:nvPr/>
        </p:nvSpPr>
        <p:spPr>
          <a:xfrm>
            <a:off x="4389120" y="4617720"/>
            <a:ext cx="3291840" cy="118872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89" name="r189"/>
          <p:cNvSpPr/>
          <p:nvPr/>
        </p:nvSpPr>
        <p:spPr>
          <a:xfrm>
            <a:off x="7955279" y="4617720"/>
            <a:ext cx="3291840" cy="118872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90" name="t190"/>
          <p:cNvSpPr txBox="1"/>
          <p:nvPr/>
        </p:nvSpPr>
        <p:spPr>
          <a:xfrm>
            <a:off x="1097280" y="4892040"/>
            <a:ext cx="27432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More crews &amp; customers</a:t>
            </a:r>
          </a:p>
        </p:txBody>
      </p:sp>
      <p:sp>
        <p:nvSpPr>
          <p:cNvPr id="191" name="t191"/>
          <p:cNvSpPr txBox="1"/>
          <p:nvPr/>
        </p:nvSpPr>
        <p:spPr>
          <a:xfrm>
            <a:off x="4663440" y="4892040"/>
            <a:ext cx="27432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New territory, instantly</a:t>
            </a:r>
          </a:p>
        </p:txBody>
      </p:sp>
      <p:sp>
        <p:nvSpPr>
          <p:cNvPr id="192" name="t192"/>
          <p:cNvSpPr txBox="1"/>
          <p:nvPr/>
        </p:nvSpPr>
        <p:spPr>
          <a:xfrm>
            <a:off x="8229600" y="4892040"/>
            <a:ext cx="27432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D99028"/>
                </a:solidFill>
                <a:latin typeface="Aptos"/>
              </a:rPr>
              <a:t>Stacks ON TOP of the $50M</a:t>
            </a:r>
          </a:p>
        </p:txBody>
      </p:sp>
      <p:sp>
        <p:nvSpPr>
          <p:cNvPr id="193" name="t19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10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194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PLAN A · WHAT IT'S WORTH</a:t>
            </a:r>
          </a:p>
        </p:txBody>
      </p:sp>
      <p:sp>
        <p:nvSpPr>
          <p:cNvPr id="195" name="t195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What all of it is worth</a:t>
            </a:r>
          </a:p>
        </p:txBody>
      </p:sp>
      <p:sp>
        <p:nvSpPr>
          <p:cNvPr id="196" name="r196"/>
          <p:cNvSpPr/>
          <p:nvPr/>
        </p:nvSpPr>
        <p:spPr>
          <a:xfrm>
            <a:off x="822960" y="2468880"/>
            <a:ext cx="3200400" cy="18288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197" name="t197"/>
          <p:cNvSpPr txBox="1"/>
          <p:nvPr/>
        </p:nvSpPr>
        <p:spPr>
          <a:xfrm>
            <a:off x="822960" y="2788920"/>
            <a:ext cx="32004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B9D77A"/>
                </a:solidFill>
                <a:latin typeface="Aptos Display"/>
              </a:rPr>
              <a:t>$12.5M</a:t>
            </a:r>
          </a:p>
        </p:txBody>
      </p:sp>
      <p:sp>
        <p:nvSpPr>
          <p:cNvPr id="198" name="t198"/>
          <p:cNvSpPr txBox="1"/>
          <p:nvPr/>
        </p:nvSpPr>
        <p:spPr>
          <a:xfrm>
            <a:off x="1005840" y="3657600"/>
            <a:ext cx="283464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yearly profit by 2031</a:t>
            </a:r>
          </a:p>
        </p:txBody>
      </p:sp>
      <p:sp>
        <p:nvSpPr>
          <p:cNvPr id="199" name="t199"/>
          <p:cNvSpPr txBox="1"/>
          <p:nvPr/>
        </p:nvSpPr>
        <p:spPr>
          <a:xfrm>
            <a:off x="4114800" y="2971800"/>
            <a:ext cx="8229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200" name="r200"/>
          <p:cNvSpPr/>
          <p:nvPr/>
        </p:nvSpPr>
        <p:spPr>
          <a:xfrm>
            <a:off x="5029200" y="2468880"/>
            <a:ext cx="3200400" cy="18288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01" name="t201"/>
          <p:cNvSpPr txBox="1"/>
          <p:nvPr/>
        </p:nvSpPr>
        <p:spPr>
          <a:xfrm>
            <a:off x="5029200" y="2788920"/>
            <a:ext cx="32004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F2EFE6"/>
                </a:solidFill>
                <a:latin typeface="Aptos Display"/>
              </a:rPr>
              <a:t>~$125–150M</a:t>
            </a:r>
          </a:p>
        </p:txBody>
      </p:sp>
      <p:sp>
        <p:nvSpPr>
          <p:cNvPr id="202" name="t202"/>
          <p:cNvSpPr txBox="1"/>
          <p:nvPr/>
        </p:nvSpPr>
        <p:spPr>
          <a:xfrm>
            <a:off x="5212080" y="3657600"/>
            <a:ext cx="283464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company value at sale</a:t>
            </a:r>
          </a:p>
        </p:txBody>
      </p:sp>
      <p:sp>
        <p:nvSpPr>
          <p:cNvPr id="203" name="t203"/>
          <p:cNvSpPr txBox="1"/>
          <p:nvPr/>
        </p:nvSpPr>
        <p:spPr>
          <a:xfrm>
            <a:off x="8321040" y="2971800"/>
            <a:ext cx="8229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204" name="r204"/>
          <p:cNvSpPr/>
          <p:nvPr/>
        </p:nvSpPr>
        <p:spPr>
          <a:xfrm>
            <a:off x="9144000" y="2468880"/>
            <a:ext cx="2194560" cy="182880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205" name="t205"/>
          <p:cNvSpPr txBox="1"/>
          <p:nvPr/>
        </p:nvSpPr>
        <p:spPr>
          <a:xfrm>
            <a:off x="9144000" y="2880360"/>
            <a:ext cx="219456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6332E"/>
                </a:solidFill>
                <a:latin typeface="Aptos Display"/>
              </a:rPr>
              <a:t>Your</a:t>
            </a:r>
          </a:p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6332E"/>
                </a:solidFill>
                <a:latin typeface="Aptos Display"/>
              </a:rPr>
              <a:t>equity</a:t>
            </a:r>
          </a:p>
        </p:txBody>
      </p:sp>
      <p:sp>
        <p:nvSpPr>
          <p:cNvPr id="206" name="t206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Grow the profit → grow the company's value → grow your slice. That's why the plan is built to their scoreboard.</a:t>
            </a:r>
          </a:p>
        </p:txBody>
      </p:sp>
      <p:sp>
        <p:nvSpPr>
          <p:cNvPr id="207" name="t207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11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208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THE PROBLEM</a:t>
            </a:r>
          </a:p>
        </p:txBody>
      </p:sp>
      <p:sp>
        <p:nvSpPr>
          <p:cNvPr id="209" name="t209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But first — 2026 is behind</a:t>
            </a:r>
          </a:p>
        </p:txBody>
      </p:sp>
      <p:sp>
        <p:nvSpPr>
          <p:cNvPr id="210" name="r210"/>
          <p:cNvSpPr/>
          <p:nvPr/>
        </p:nvSpPr>
        <p:spPr>
          <a:xfrm>
            <a:off x="822960" y="2468880"/>
            <a:ext cx="5029200" cy="23774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11" name="r211"/>
          <p:cNvSpPr/>
          <p:nvPr/>
        </p:nvSpPr>
        <p:spPr>
          <a:xfrm>
            <a:off x="822960" y="2468880"/>
            <a:ext cx="5029200" cy="146304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212" name="t212"/>
          <p:cNvSpPr txBox="1"/>
          <p:nvPr/>
        </p:nvSpPr>
        <p:spPr>
          <a:xfrm>
            <a:off x="1143000" y="2788920"/>
            <a:ext cx="44805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January cost us</a:t>
            </a:r>
          </a:p>
        </p:txBody>
      </p:sp>
      <p:sp>
        <p:nvSpPr>
          <p:cNvPr id="213" name="t213"/>
          <p:cNvSpPr txBox="1"/>
          <p:nvPr/>
        </p:nvSpPr>
        <p:spPr>
          <a:xfrm>
            <a:off x="1143000" y="3246120"/>
            <a:ext cx="44805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~$900K</a:t>
            </a:r>
          </a:p>
        </p:txBody>
      </p:sp>
      <p:sp>
        <p:nvSpPr>
          <p:cNvPr id="214" name="t214"/>
          <p:cNvSpPr txBox="1"/>
          <p:nvPr/>
        </p:nvSpPr>
        <p:spPr>
          <a:xfrm>
            <a:off x="1143000" y="4160520"/>
            <a:ext cx="44805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of real, lost work — 78% of the whole gap.</a:t>
            </a:r>
          </a:p>
        </p:txBody>
      </p:sp>
      <p:sp>
        <p:nvSpPr>
          <p:cNvPr id="215" name="r215"/>
          <p:cNvSpPr/>
          <p:nvPr/>
        </p:nvSpPr>
        <p:spPr>
          <a:xfrm>
            <a:off x="6309360" y="2468880"/>
            <a:ext cx="5029200" cy="23774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16" name="r216"/>
          <p:cNvSpPr/>
          <p:nvPr/>
        </p:nvSpPr>
        <p:spPr>
          <a:xfrm>
            <a:off x="6309360" y="2468880"/>
            <a:ext cx="5029200" cy="146304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217" name="t217"/>
          <p:cNvSpPr txBox="1"/>
          <p:nvPr/>
        </p:nvSpPr>
        <p:spPr>
          <a:xfrm>
            <a:off x="6629400" y="2788920"/>
            <a:ext cx="44805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On today's pace we finish</a:t>
            </a:r>
          </a:p>
        </p:txBody>
      </p:sp>
      <p:sp>
        <p:nvSpPr>
          <p:cNvPr id="218" name="t218"/>
          <p:cNvSpPr txBox="1"/>
          <p:nvPr/>
        </p:nvSpPr>
        <p:spPr>
          <a:xfrm>
            <a:off x="6629400" y="3246120"/>
            <a:ext cx="448056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4000" b="1" dirty="0">
                <a:solidFill>
                  <a:srgbClr val="D99028"/>
                </a:solidFill>
                <a:latin typeface="Aptos Display"/>
              </a:rPr>
              <a:t>~$22.5M</a:t>
            </a:r>
          </a:p>
        </p:txBody>
      </p:sp>
      <p:sp>
        <p:nvSpPr>
          <p:cNvPr id="219" name="t219"/>
          <p:cNvSpPr txBox="1"/>
          <p:nvPr/>
        </p:nvSpPr>
        <p:spPr>
          <a:xfrm>
            <a:off x="6629400" y="4160520"/>
            <a:ext cx="4480560" cy="6400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...not $24M. We have to make it up.</a:t>
            </a:r>
          </a:p>
        </p:txBody>
      </p:sp>
      <p:sp>
        <p:nvSpPr>
          <p:cNvPr id="220" name="t220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B9D77A"/>
                </a:solidFill>
                <a:latin typeface="Aptos"/>
              </a:rPr>
              <a:t>The good news: the rest of the year (Feb–June) is on plan. It's one bad month to claw back.</a:t>
            </a:r>
          </a:p>
        </p:txBody>
      </p:sp>
      <p:sp>
        <p:nvSpPr>
          <p:cNvPr id="221" name="t221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12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222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WHY IT MATTERS</a:t>
            </a:r>
          </a:p>
        </p:txBody>
      </p:sp>
      <p:sp>
        <p:nvSpPr>
          <p:cNvPr id="223" name="t223"/>
          <p:cNvSpPr txBox="1"/>
          <p:nvPr/>
        </p:nvSpPr>
        <p:spPr>
          <a:xfrm>
            <a:off x="822960" y="1051560"/>
            <a:ext cx="1069848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900" b="1" dirty="0">
                <a:solidFill>
                  <a:srgbClr val="F2EFE6"/>
                </a:solidFill>
                <a:latin typeface="Aptos Display"/>
              </a:rPr>
              <a:t>There's a bonus riding on this year</a:t>
            </a:r>
          </a:p>
        </p:txBody>
      </p:sp>
      <p:sp>
        <p:nvSpPr>
          <p:cNvPr id="224" name="r224"/>
          <p:cNvSpPr/>
          <p:nvPr/>
        </p:nvSpPr>
        <p:spPr>
          <a:xfrm>
            <a:off x="822960" y="2468880"/>
            <a:ext cx="10515600" cy="13716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25" name="r225"/>
          <p:cNvSpPr/>
          <p:nvPr/>
        </p:nvSpPr>
        <p:spPr>
          <a:xfrm>
            <a:off x="822960" y="2468880"/>
            <a:ext cx="182880" cy="1371600"/>
          </a:xfrm>
          <a:prstGeom prst="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226" name="t226"/>
          <p:cNvSpPr txBox="1"/>
          <p:nvPr/>
        </p:nvSpPr>
        <p:spPr>
          <a:xfrm>
            <a:off x="1234440" y="2697480"/>
            <a:ext cx="9875520" cy="10058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F2EFE6"/>
                </a:solidFill>
                <a:latin typeface="Aptos"/>
              </a:rPr>
              <a:t>The deal pays up to $5M extra for hitting 2026's profit target — and another $5M for 2027.</a:t>
            </a:r>
          </a:p>
        </p:txBody>
      </p:sp>
      <p:sp>
        <p:nvSpPr>
          <p:cNvPr id="227" name="t227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Right now we're tracking BELOW the level where the bonus starts. So:</a:t>
            </a:r>
          </a:p>
        </p:txBody>
      </p:sp>
      <p:sp>
        <p:nvSpPr>
          <p:cNvPr id="228" name="r228"/>
          <p:cNvSpPr/>
          <p:nvPr/>
        </p:nvSpPr>
        <p:spPr>
          <a:xfrm>
            <a:off x="822960" y="4709160"/>
            <a:ext cx="10515600" cy="105156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29" name="t229"/>
          <p:cNvSpPr txBox="1"/>
          <p:nvPr/>
        </p:nvSpPr>
        <p:spPr>
          <a:xfrm>
            <a:off x="1143000" y="4892040"/>
            <a:ext cx="10058400" cy="73152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B9D77A"/>
                </a:solidFill>
                <a:latin typeface="Aptos"/>
              </a:rPr>
              <a:t>Hitting the plan turns ~$0 into roughly $4–5M. This is the single most valuable thing on the table this year.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13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231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2026 BY THE NUMBERS</a:t>
            </a:r>
          </a:p>
        </p:txBody>
      </p:sp>
      <p:sp>
        <p:nvSpPr>
          <p:cNvPr id="232" name="t232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2EFE6"/>
                </a:solidFill>
                <a:latin typeface="Aptos Display"/>
              </a:rPr>
              <a:t>What each scenario is worth</a:t>
            </a:r>
          </a:p>
        </p:txBody>
      </p:sp>
      <p:sp>
        <p:nvSpPr>
          <p:cNvPr id="233" name="t233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The bonus climbs with profit — $0 below the line, up to $5M at the cap.</a:t>
            </a:r>
          </a:p>
        </p:txBody>
      </p:sp>
      <p:sp>
        <p:nvSpPr>
          <p:cNvPr id="234" name="r234"/>
          <p:cNvSpPr/>
          <p:nvPr/>
        </p:nvSpPr>
        <p:spPr>
          <a:xfrm>
            <a:off x="868680" y="2148840"/>
            <a:ext cx="10515600" cy="54864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35" name="t235"/>
          <p:cNvSpPr txBox="1"/>
          <p:nvPr/>
        </p:nvSpPr>
        <p:spPr>
          <a:xfrm>
            <a:off x="1005839" y="214884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2026 outcome</a:t>
            </a:r>
          </a:p>
        </p:txBody>
      </p:sp>
      <p:sp>
        <p:nvSpPr>
          <p:cNvPr id="236" name="t236"/>
          <p:cNvSpPr txBox="1"/>
          <p:nvPr/>
        </p:nvSpPr>
        <p:spPr>
          <a:xfrm>
            <a:off x="5852160" y="214884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Revenue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8046720" y="214884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Gross Profit</a:t>
            </a:r>
          </a:p>
        </p:txBody>
      </p:sp>
      <p:sp>
        <p:nvSpPr>
          <p:cNvPr id="238" name="t238"/>
          <p:cNvSpPr txBox="1"/>
          <p:nvPr/>
        </p:nvSpPr>
        <p:spPr>
          <a:xfrm>
            <a:off x="10058400" y="214884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Bonus</a:t>
            </a:r>
          </a:p>
        </p:txBody>
      </p:sp>
      <p:sp>
        <p:nvSpPr>
          <p:cNvPr id="239" name="r239"/>
          <p:cNvSpPr/>
          <p:nvPr/>
        </p:nvSpPr>
        <p:spPr>
          <a:xfrm>
            <a:off x="868680" y="2697480"/>
            <a:ext cx="10515600" cy="548640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240" name="t240"/>
          <p:cNvSpPr txBox="1"/>
          <p:nvPr/>
        </p:nvSpPr>
        <p:spPr>
          <a:xfrm>
            <a:off x="1005839" y="269748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Do nothing (today's pace)</a:t>
            </a:r>
          </a:p>
        </p:txBody>
      </p:sp>
      <p:sp>
        <p:nvSpPr>
          <p:cNvPr id="241" name="t241"/>
          <p:cNvSpPr txBox="1"/>
          <p:nvPr/>
        </p:nvSpPr>
        <p:spPr>
          <a:xfrm>
            <a:off x="5852160" y="269748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$22.5M</a:t>
            </a:r>
          </a:p>
        </p:txBody>
      </p:sp>
      <p:sp>
        <p:nvSpPr>
          <p:cNvPr id="242" name="t242"/>
          <p:cNvSpPr txBox="1"/>
          <p:nvPr/>
        </p:nvSpPr>
        <p:spPr>
          <a:xfrm>
            <a:off x="8046720" y="269748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$11.2M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10058400" y="269748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$0</a:t>
            </a:r>
          </a:p>
        </p:txBody>
      </p:sp>
      <p:sp>
        <p:nvSpPr>
          <p:cNvPr id="244" name="r244"/>
          <p:cNvSpPr/>
          <p:nvPr/>
        </p:nvSpPr>
        <p:spPr>
          <a:xfrm>
            <a:off x="868680" y="3246120"/>
            <a:ext cx="10515600" cy="54864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45" name="t245"/>
          <p:cNvSpPr txBox="1"/>
          <p:nvPr/>
        </p:nvSpPr>
        <p:spPr>
          <a:xfrm>
            <a:off x="1005839" y="324612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City work + $500K sales</a:t>
            </a:r>
          </a:p>
        </p:txBody>
      </p:sp>
      <p:sp>
        <p:nvSpPr>
          <p:cNvPr id="246" name="t246"/>
          <p:cNvSpPr txBox="1"/>
          <p:nvPr/>
        </p:nvSpPr>
        <p:spPr>
          <a:xfrm>
            <a:off x="5852160" y="324612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$24.0M</a:t>
            </a:r>
          </a:p>
        </p:txBody>
      </p:sp>
      <p:sp>
        <p:nvSpPr>
          <p:cNvPr id="247" name="t247"/>
          <p:cNvSpPr txBox="1"/>
          <p:nvPr/>
        </p:nvSpPr>
        <p:spPr>
          <a:xfrm>
            <a:off x="8046720" y="324612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$12.0M</a:t>
            </a:r>
          </a:p>
        </p:txBody>
      </p:sp>
      <p:sp>
        <p:nvSpPr>
          <p:cNvPr id="248" name="t248"/>
          <p:cNvSpPr txBox="1"/>
          <p:nvPr/>
        </p:nvSpPr>
        <p:spPr>
          <a:xfrm>
            <a:off x="10058400" y="324612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~$2.7M</a:t>
            </a:r>
          </a:p>
        </p:txBody>
      </p:sp>
      <p:sp>
        <p:nvSpPr>
          <p:cNvPr id="249" name="r249"/>
          <p:cNvSpPr/>
          <p:nvPr/>
        </p:nvSpPr>
        <p:spPr>
          <a:xfrm>
            <a:off x="868680" y="3794760"/>
            <a:ext cx="10515600" cy="548640"/>
          </a:xfrm>
          <a:prstGeom prst="rect">
            <a:avLst/>
          </a:prstGeom>
          <a:solidFill>
            <a:srgbClr val="2E3F2C"/>
          </a:solidFill>
          <a:ln w="19050">
            <a:solidFill>
              <a:srgbClr val="B9D77A"/>
            </a:solidFill>
          </a:ln>
        </p:spPr>
        <p:txBody>
          <a:bodyPr/>
          <a:p/>
        </p:txBody>
      </p:sp>
      <p:sp>
        <p:nvSpPr>
          <p:cNvPr id="250" name="t250"/>
          <p:cNvSpPr txBox="1"/>
          <p:nvPr/>
        </p:nvSpPr>
        <p:spPr>
          <a:xfrm>
            <a:off x="1005839" y="379476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City work + $946K sales  ★</a:t>
            </a:r>
          </a:p>
        </p:txBody>
      </p:sp>
      <p:sp>
        <p:nvSpPr>
          <p:cNvPr id="251" name="t251"/>
          <p:cNvSpPr txBox="1"/>
          <p:nvPr/>
        </p:nvSpPr>
        <p:spPr>
          <a:xfrm>
            <a:off x="5852160" y="379476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$24.5M</a:t>
            </a:r>
          </a:p>
        </p:txBody>
      </p:sp>
      <p:sp>
        <p:nvSpPr>
          <p:cNvPr id="252" name="t252"/>
          <p:cNvSpPr txBox="1"/>
          <p:nvPr/>
        </p:nvSpPr>
        <p:spPr>
          <a:xfrm>
            <a:off x="8046720" y="379476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$12.2M</a:t>
            </a:r>
          </a:p>
        </p:txBody>
      </p:sp>
      <p:sp>
        <p:nvSpPr>
          <p:cNvPr id="253" name="t253"/>
          <p:cNvSpPr txBox="1"/>
          <p:nvPr/>
        </p:nvSpPr>
        <p:spPr>
          <a:xfrm>
            <a:off x="10058400" y="379476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~$3.9M</a:t>
            </a:r>
          </a:p>
        </p:txBody>
      </p:sp>
      <p:sp>
        <p:nvSpPr>
          <p:cNvPr id="254" name="r254"/>
          <p:cNvSpPr/>
          <p:nvPr/>
        </p:nvSpPr>
        <p:spPr>
          <a:xfrm>
            <a:off x="868680" y="4343400"/>
            <a:ext cx="10515600" cy="548640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55" name="t255"/>
          <p:cNvSpPr txBox="1"/>
          <p:nvPr/>
        </p:nvSpPr>
        <p:spPr>
          <a:xfrm>
            <a:off x="1005839" y="434340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Aggressive city + $946K</a:t>
            </a:r>
          </a:p>
        </p:txBody>
      </p:sp>
      <p:sp>
        <p:nvSpPr>
          <p:cNvPr id="256" name="t256"/>
          <p:cNvSpPr txBox="1"/>
          <p:nvPr/>
        </p:nvSpPr>
        <p:spPr>
          <a:xfrm>
            <a:off x="5852160" y="434340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$24.9M</a:t>
            </a:r>
          </a:p>
        </p:txBody>
      </p:sp>
      <p:sp>
        <p:nvSpPr>
          <p:cNvPr id="257" name="t257"/>
          <p:cNvSpPr txBox="1"/>
          <p:nvPr/>
        </p:nvSpPr>
        <p:spPr>
          <a:xfrm>
            <a:off x="8046720" y="434340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$12.4M</a:t>
            </a:r>
          </a:p>
        </p:txBody>
      </p:sp>
      <p:sp>
        <p:nvSpPr>
          <p:cNvPr id="258" name="t258"/>
          <p:cNvSpPr txBox="1"/>
          <p:nvPr/>
        </p:nvSpPr>
        <p:spPr>
          <a:xfrm>
            <a:off x="10058400" y="434340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~$4.8M</a:t>
            </a:r>
          </a:p>
        </p:txBody>
      </p:sp>
      <p:sp>
        <p:nvSpPr>
          <p:cNvPr id="259" name="r259"/>
          <p:cNvSpPr/>
          <p:nvPr/>
        </p:nvSpPr>
        <p:spPr>
          <a:xfrm>
            <a:off x="868680" y="4892040"/>
            <a:ext cx="10515600" cy="548640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260" name="t260"/>
          <p:cNvSpPr txBox="1"/>
          <p:nvPr/>
        </p:nvSpPr>
        <p:spPr>
          <a:xfrm>
            <a:off x="1005839" y="4892040"/>
            <a:ext cx="466344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Everything lands (the cap)</a:t>
            </a:r>
          </a:p>
        </p:txBody>
      </p:sp>
      <p:sp>
        <p:nvSpPr>
          <p:cNvPr id="261" name="t261"/>
          <p:cNvSpPr txBox="1"/>
          <p:nvPr/>
        </p:nvSpPr>
        <p:spPr>
          <a:xfrm>
            <a:off x="5852160" y="4892040"/>
            <a:ext cx="2011679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$25.1M</a:t>
            </a:r>
          </a:p>
        </p:txBody>
      </p:sp>
      <p:sp>
        <p:nvSpPr>
          <p:cNvPr id="262" name="t262"/>
          <p:cNvSpPr txBox="1"/>
          <p:nvPr/>
        </p:nvSpPr>
        <p:spPr>
          <a:xfrm>
            <a:off x="8046720" y="4892040"/>
            <a:ext cx="182880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$12.5M</a:t>
            </a:r>
          </a:p>
        </p:txBody>
      </p:sp>
      <p:sp>
        <p:nvSpPr>
          <p:cNvPr id="263" name="t263"/>
          <p:cNvSpPr txBox="1"/>
          <p:nvPr/>
        </p:nvSpPr>
        <p:spPr>
          <a:xfrm>
            <a:off x="10058400" y="4892040"/>
            <a:ext cx="1280160" cy="54864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D99028"/>
                </a:solidFill>
                <a:latin typeface="Aptos"/>
              </a:rPr>
              <a:t>$5.0M</a:t>
            </a:r>
          </a:p>
        </p:txBody>
      </p:sp>
      <p:sp>
        <p:nvSpPr>
          <p:cNvPr id="264" name="t264"/>
          <p:cNvSpPr txBox="1"/>
          <p:nvPr/>
        </p:nvSpPr>
        <p:spPr>
          <a:xfrm>
            <a:off x="868680" y="544068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★ The play: reliable city work banks ~$2.7M — the private-sales push is worth ~2× on top.</a:t>
            </a:r>
          </a:p>
        </p:txBody>
      </p:sp>
      <p:sp>
        <p:nvSpPr>
          <p:cNvPr id="265" name="t265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266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THE FIX</a:t>
            </a:r>
          </a:p>
        </p:txBody>
      </p:sp>
      <p:sp>
        <p:nvSpPr>
          <p:cNvPr id="267" name="t267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How we close the gap</a:t>
            </a:r>
          </a:p>
        </p:txBody>
      </p:sp>
      <p:sp>
        <p:nvSpPr>
          <p:cNvPr id="268" name="r268"/>
          <p:cNvSpPr/>
          <p:nvPr/>
        </p:nvSpPr>
        <p:spPr>
          <a:xfrm>
            <a:off x="822960" y="2560320"/>
            <a:ext cx="3246120" cy="22860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69" name="t269"/>
          <p:cNvSpPr txBox="1"/>
          <p:nvPr/>
        </p:nvSpPr>
        <p:spPr>
          <a:xfrm>
            <a:off x="822960" y="2834640"/>
            <a:ext cx="324612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B9D77A"/>
                </a:solidFill>
                <a:latin typeface="Aptos Display"/>
              </a:rPr>
              <a:t>City work</a:t>
            </a:r>
          </a:p>
        </p:txBody>
      </p:sp>
      <p:sp>
        <p:nvSpPr>
          <p:cNvPr id="270" name="t270"/>
          <p:cNvSpPr txBox="1"/>
          <p:nvPr/>
        </p:nvSpPr>
        <p:spPr>
          <a:xfrm>
            <a:off x="1005840" y="3611880"/>
            <a:ext cx="288036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Reliable &amp; predictable (Brent's forecast). Covers most of the gap.</a:t>
            </a:r>
          </a:p>
        </p:txBody>
      </p:sp>
      <p:sp>
        <p:nvSpPr>
          <p:cNvPr id="271" name="t271"/>
          <p:cNvSpPr txBox="1"/>
          <p:nvPr/>
        </p:nvSpPr>
        <p:spPr>
          <a:xfrm>
            <a:off x="4160520" y="3291840"/>
            <a:ext cx="64008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D99028"/>
                </a:solidFill>
                <a:latin typeface="Aptos Display"/>
              </a:rPr>
              <a:t>+</a:t>
            </a:r>
          </a:p>
        </p:txBody>
      </p:sp>
      <p:sp>
        <p:nvSpPr>
          <p:cNvPr id="272" name="r272"/>
          <p:cNvSpPr/>
          <p:nvPr/>
        </p:nvSpPr>
        <p:spPr>
          <a:xfrm>
            <a:off x="4846320" y="2560320"/>
            <a:ext cx="3246120" cy="228600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73" name="t273"/>
          <p:cNvSpPr txBox="1"/>
          <p:nvPr/>
        </p:nvSpPr>
        <p:spPr>
          <a:xfrm>
            <a:off x="4846320" y="2834640"/>
            <a:ext cx="324612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B9D77A"/>
                </a:solidFill>
                <a:latin typeface="Aptos Display"/>
              </a:rPr>
              <a:t>Private sales</a:t>
            </a:r>
          </a:p>
        </p:txBody>
      </p:sp>
      <p:sp>
        <p:nvSpPr>
          <p:cNvPr id="274" name="t274"/>
          <p:cNvSpPr txBox="1"/>
          <p:nvPr/>
        </p:nvSpPr>
        <p:spPr>
          <a:xfrm>
            <a:off x="5029200" y="3611880"/>
            <a:ext cx="2880360" cy="10972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HOA &amp; commercial work we go win. The lever we control.</a:t>
            </a:r>
          </a:p>
        </p:txBody>
      </p:sp>
      <p:sp>
        <p:nvSpPr>
          <p:cNvPr id="275" name="t275"/>
          <p:cNvSpPr txBox="1"/>
          <p:nvPr/>
        </p:nvSpPr>
        <p:spPr>
          <a:xfrm>
            <a:off x="8183879" y="3291840"/>
            <a:ext cx="64008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D99028"/>
                </a:solidFill>
                <a:latin typeface="Aptos Display"/>
              </a:rPr>
              <a:t>=</a:t>
            </a:r>
          </a:p>
        </p:txBody>
      </p:sp>
      <p:sp>
        <p:nvSpPr>
          <p:cNvPr id="276" name="r276"/>
          <p:cNvSpPr/>
          <p:nvPr/>
        </p:nvSpPr>
        <p:spPr>
          <a:xfrm>
            <a:off x="8869680" y="2560320"/>
            <a:ext cx="2468880" cy="228600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277" name="t277"/>
          <p:cNvSpPr txBox="1"/>
          <p:nvPr/>
        </p:nvSpPr>
        <p:spPr>
          <a:xfrm>
            <a:off x="8869680" y="3063240"/>
            <a:ext cx="2468880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26332E"/>
                </a:solidFill>
                <a:latin typeface="Aptos Display"/>
              </a:rPr>
              <a:t>$24M+</a:t>
            </a:r>
          </a:p>
          <a:p>
            <a:pPr algn="ctr">
              <a:lnSpc>
                <a:spcPct val="100000"/>
              </a:lnSpc>
            </a:pPr>
            <a:r>
              <a:rPr lang="en-US" sz="1300" b="0" dirty="0">
                <a:solidFill>
                  <a:srgbClr val="26332E"/>
                </a:solidFill>
                <a:latin typeface="Aptos"/>
              </a:rPr>
              <a:t>and the</a:t>
            </a:r>
          </a:p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6332E"/>
                </a:solidFill>
                <a:latin typeface="Aptos"/>
              </a:rPr>
              <a:t>bonus</a:t>
            </a:r>
          </a:p>
        </p:txBody>
      </p:sp>
      <p:sp>
        <p:nvSpPr>
          <p:cNvPr id="278" name="t278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City work is reliable — so the private-sales team is what turns a 'make the goal' year into a 'max the bonus' year.</a:t>
            </a:r>
          </a:p>
        </p:txBody>
      </p:sp>
      <p:sp>
        <p:nvSpPr>
          <p:cNvPr id="279" name="t279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15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280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THE H2 SCHEDULE</a:t>
            </a:r>
          </a:p>
        </p:txBody>
      </p:sp>
      <p:sp>
        <p:nvSpPr>
          <p:cNvPr id="281" name="t281"/>
          <p:cNvSpPr txBox="1"/>
          <p:nvPr/>
        </p:nvSpPr>
        <p:spPr>
          <a:xfrm>
            <a:off x="822960" y="868680"/>
            <a:ext cx="10515600" cy="73152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800" b="1" dirty="0">
                <a:solidFill>
                  <a:srgbClr val="F2EFE6"/>
                </a:solidFill>
                <a:latin typeface="Aptos Display"/>
              </a:rPr>
              <a:t>The month-by-month plan</a:t>
            </a:r>
          </a:p>
        </p:txBody>
      </p:sp>
      <p:sp>
        <p:nvSpPr>
          <p:cNvPr id="282" name="t282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0" dirty="0">
                <a:solidFill>
                  <a:srgbClr val="9FAE95"/>
                </a:solidFill>
                <a:latin typeface="Aptos"/>
              </a:rPr>
              <a:t>Front-loaded into Sep–Oct. Everything must be produced AND invoiced in 2026.</a:t>
            </a:r>
          </a:p>
        </p:txBody>
      </p:sp>
      <p:sp>
        <p:nvSpPr>
          <p:cNvPr id="283" name="r283"/>
          <p:cNvSpPr/>
          <p:nvPr/>
        </p:nvSpPr>
        <p:spPr>
          <a:xfrm>
            <a:off x="1051560" y="2148840"/>
            <a:ext cx="10058400" cy="512064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84" name="t284"/>
          <p:cNvSpPr txBox="1"/>
          <p:nvPr/>
        </p:nvSpPr>
        <p:spPr>
          <a:xfrm>
            <a:off x="1188719" y="2148840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Month</a:t>
            </a:r>
          </a:p>
        </p:txBody>
      </p:sp>
      <p:sp>
        <p:nvSpPr>
          <p:cNvPr id="285" name="t285"/>
          <p:cNvSpPr txBox="1"/>
          <p:nvPr/>
        </p:nvSpPr>
        <p:spPr>
          <a:xfrm>
            <a:off x="3017520" y="2148840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City work</a:t>
            </a:r>
          </a:p>
        </p:txBody>
      </p:sp>
      <p:sp>
        <p:nvSpPr>
          <p:cNvPr id="286" name="t286"/>
          <p:cNvSpPr txBox="1"/>
          <p:nvPr/>
        </p:nvSpPr>
        <p:spPr>
          <a:xfrm>
            <a:off x="5943600" y="2148840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Private sales (close)</a:t>
            </a:r>
          </a:p>
        </p:txBody>
      </p:sp>
      <p:sp>
        <p:nvSpPr>
          <p:cNvPr id="287" name="t287"/>
          <p:cNvSpPr txBox="1"/>
          <p:nvPr/>
        </p:nvSpPr>
        <p:spPr>
          <a:xfrm>
            <a:off x="8869680" y="2148840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Counts in 2026?</a:t>
            </a:r>
          </a:p>
        </p:txBody>
      </p:sp>
      <p:sp>
        <p:nvSpPr>
          <p:cNvPr id="288" name="r288"/>
          <p:cNvSpPr/>
          <p:nvPr/>
        </p:nvSpPr>
        <p:spPr>
          <a:xfrm>
            <a:off x="1051560" y="2660904"/>
            <a:ext cx="10058400" cy="512064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289" name="t289"/>
          <p:cNvSpPr txBox="1"/>
          <p:nvPr/>
        </p:nvSpPr>
        <p:spPr>
          <a:xfrm>
            <a:off x="1188719" y="2660904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Aug</a:t>
            </a:r>
          </a:p>
        </p:txBody>
      </p:sp>
      <p:sp>
        <p:nvSpPr>
          <p:cNvPr id="290" name="t290"/>
          <p:cNvSpPr txBox="1"/>
          <p:nvPr/>
        </p:nvSpPr>
        <p:spPr>
          <a:xfrm>
            <a:off x="3017520" y="2660904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$1.05M</a:t>
            </a:r>
          </a:p>
        </p:txBody>
      </p:sp>
      <p:sp>
        <p:nvSpPr>
          <p:cNvPr id="291" name="t291"/>
          <p:cNvSpPr txBox="1"/>
          <p:nvPr/>
        </p:nvSpPr>
        <p:spPr>
          <a:xfrm>
            <a:off x="5943600" y="2660904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$230K</a:t>
            </a:r>
          </a:p>
        </p:txBody>
      </p:sp>
      <p:sp>
        <p:nvSpPr>
          <p:cNvPr id="292" name="t292"/>
          <p:cNvSpPr txBox="1"/>
          <p:nvPr/>
        </p:nvSpPr>
        <p:spPr>
          <a:xfrm>
            <a:off x="8869680" y="2660904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Yes</a:t>
            </a:r>
          </a:p>
        </p:txBody>
      </p:sp>
      <p:sp>
        <p:nvSpPr>
          <p:cNvPr id="293" name="r293"/>
          <p:cNvSpPr/>
          <p:nvPr/>
        </p:nvSpPr>
        <p:spPr>
          <a:xfrm>
            <a:off x="1051560" y="3172968"/>
            <a:ext cx="10058400" cy="512064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294" name="t294"/>
          <p:cNvSpPr txBox="1"/>
          <p:nvPr/>
        </p:nvSpPr>
        <p:spPr>
          <a:xfrm>
            <a:off x="1188719" y="3172968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Sep</a:t>
            </a:r>
          </a:p>
        </p:txBody>
      </p:sp>
      <p:sp>
        <p:nvSpPr>
          <p:cNvPr id="295" name="t295"/>
          <p:cNvSpPr txBox="1"/>
          <p:nvPr/>
        </p:nvSpPr>
        <p:spPr>
          <a:xfrm>
            <a:off x="3017520" y="3172968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$1.10M</a:t>
            </a:r>
          </a:p>
        </p:txBody>
      </p:sp>
      <p:sp>
        <p:nvSpPr>
          <p:cNvPr id="296" name="t296"/>
          <p:cNvSpPr txBox="1"/>
          <p:nvPr/>
        </p:nvSpPr>
        <p:spPr>
          <a:xfrm>
            <a:off x="5943600" y="3172968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$250K</a:t>
            </a:r>
          </a:p>
        </p:txBody>
      </p:sp>
      <p:sp>
        <p:nvSpPr>
          <p:cNvPr id="297" name="t297"/>
          <p:cNvSpPr txBox="1"/>
          <p:nvPr/>
        </p:nvSpPr>
        <p:spPr>
          <a:xfrm>
            <a:off x="8869680" y="3172968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Yes — peak</a:t>
            </a:r>
          </a:p>
        </p:txBody>
      </p:sp>
      <p:sp>
        <p:nvSpPr>
          <p:cNvPr id="298" name="r298"/>
          <p:cNvSpPr/>
          <p:nvPr/>
        </p:nvSpPr>
        <p:spPr>
          <a:xfrm>
            <a:off x="1051560" y="3685032"/>
            <a:ext cx="10058400" cy="512064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299" name="t299"/>
          <p:cNvSpPr txBox="1"/>
          <p:nvPr/>
        </p:nvSpPr>
        <p:spPr>
          <a:xfrm>
            <a:off x="1188719" y="3685032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Oct</a:t>
            </a:r>
          </a:p>
        </p:txBody>
      </p:sp>
      <p:sp>
        <p:nvSpPr>
          <p:cNvPr id="300" name="t300"/>
          <p:cNvSpPr txBox="1"/>
          <p:nvPr/>
        </p:nvSpPr>
        <p:spPr>
          <a:xfrm>
            <a:off x="3017520" y="3685032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$1.05M</a:t>
            </a:r>
          </a:p>
        </p:txBody>
      </p:sp>
      <p:sp>
        <p:nvSpPr>
          <p:cNvPr id="301" name="t301"/>
          <p:cNvSpPr txBox="1"/>
          <p:nvPr/>
        </p:nvSpPr>
        <p:spPr>
          <a:xfrm>
            <a:off x="5943600" y="3685032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$220K</a:t>
            </a:r>
          </a:p>
        </p:txBody>
      </p:sp>
      <p:sp>
        <p:nvSpPr>
          <p:cNvPr id="302" name="t302"/>
          <p:cNvSpPr txBox="1"/>
          <p:nvPr/>
        </p:nvSpPr>
        <p:spPr>
          <a:xfrm>
            <a:off x="8869680" y="3685032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Yes — close by 10/31</a:t>
            </a:r>
          </a:p>
        </p:txBody>
      </p:sp>
      <p:sp>
        <p:nvSpPr>
          <p:cNvPr id="303" name="r303"/>
          <p:cNvSpPr/>
          <p:nvPr/>
        </p:nvSpPr>
        <p:spPr>
          <a:xfrm>
            <a:off x="1051560" y="4197096"/>
            <a:ext cx="10058400" cy="512064"/>
          </a:xfrm>
          <a:prstGeom prst="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04" name="t304"/>
          <p:cNvSpPr txBox="1"/>
          <p:nvPr/>
        </p:nvSpPr>
        <p:spPr>
          <a:xfrm>
            <a:off x="1188719" y="4197096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Nov</a:t>
            </a:r>
          </a:p>
        </p:txBody>
      </p:sp>
      <p:sp>
        <p:nvSpPr>
          <p:cNvPr id="305" name="t305"/>
          <p:cNvSpPr txBox="1"/>
          <p:nvPr/>
        </p:nvSpPr>
        <p:spPr>
          <a:xfrm>
            <a:off x="3017520" y="4197096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$0.70M</a:t>
            </a:r>
          </a:p>
        </p:txBody>
      </p:sp>
      <p:sp>
        <p:nvSpPr>
          <p:cNvPr id="306" name="t306"/>
          <p:cNvSpPr txBox="1"/>
          <p:nvPr/>
        </p:nvSpPr>
        <p:spPr>
          <a:xfrm>
            <a:off x="5943600" y="4197096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$116K</a:t>
            </a:r>
          </a:p>
        </p:txBody>
      </p:sp>
      <p:sp>
        <p:nvSpPr>
          <p:cNvPr id="307" name="t307"/>
          <p:cNvSpPr txBox="1"/>
          <p:nvPr/>
        </p:nvSpPr>
        <p:spPr>
          <a:xfrm>
            <a:off x="8869680" y="4197096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Last chance</a:t>
            </a:r>
          </a:p>
        </p:txBody>
      </p:sp>
      <p:sp>
        <p:nvSpPr>
          <p:cNvPr id="308" name="r308"/>
          <p:cNvSpPr/>
          <p:nvPr/>
        </p:nvSpPr>
        <p:spPr>
          <a:xfrm>
            <a:off x="1051560" y="4709160"/>
            <a:ext cx="10058400" cy="512064"/>
          </a:xfrm>
          <a:prstGeom prst="rect">
            <a:avLst/>
          </a:prstGeom>
          <a:solidFill>
            <a:srgbClr val="223029"/>
          </a:solidFill>
          <a:ln>
            <a:noFill/>
          </a:ln>
        </p:spPr>
        <p:txBody>
          <a:bodyPr/>
          <a:p/>
        </p:txBody>
      </p:sp>
      <p:sp>
        <p:nvSpPr>
          <p:cNvPr id="309" name="t309"/>
          <p:cNvSpPr txBox="1"/>
          <p:nvPr/>
        </p:nvSpPr>
        <p:spPr>
          <a:xfrm>
            <a:off x="1188719" y="4709160"/>
            <a:ext cx="164592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F2EFE6"/>
                </a:solidFill>
                <a:latin typeface="Aptos"/>
              </a:rPr>
              <a:t>Dec</a:t>
            </a:r>
          </a:p>
        </p:txBody>
      </p:sp>
      <p:sp>
        <p:nvSpPr>
          <p:cNvPr id="310" name="t310"/>
          <p:cNvSpPr txBox="1"/>
          <p:nvPr/>
        </p:nvSpPr>
        <p:spPr>
          <a:xfrm>
            <a:off x="3017520" y="4709160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$0.40M</a:t>
            </a:r>
          </a:p>
        </p:txBody>
      </p:sp>
      <p:sp>
        <p:nvSpPr>
          <p:cNvPr id="311" name="t311"/>
          <p:cNvSpPr txBox="1"/>
          <p:nvPr/>
        </p:nvSpPr>
        <p:spPr>
          <a:xfrm>
            <a:off x="5943600" y="4709160"/>
            <a:ext cx="274320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$0</a:t>
            </a:r>
          </a:p>
        </p:txBody>
      </p:sp>
      <p:sp>
        <p:nvSpPr>
          <p:cNvPr id="312" name="t312"/>
          <p:cNvSpPr txBox="1"/>
          <p:nvPr/>
        </p:nvSpPr>
        <p:spPr>
          <a:xfrm>
            <a:off x="8869680" y="4709160"/>
            <a:ext cx="2194560" cy="512064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400" b="0" dirty="0">
                <a:solidFill>
                  <a:srgbClr val="F2EFE6"/>
                </a:solidFill>
                <a:latin typeface="Aptos"/>
              </a:rPr>
              <a:t>Too late to bill</a:t>
            </a:r>
          </a:p>
        </p:txBody>
      </p:sp>
      <p:sp>
        <p:nvSpPr>
          <p:cNvPr id="313" name="t313"/>
          <p:cNvSpPr txBox="1"/>
          <p:nvPr/>
        </p:nvSpPr>
        <p:spPr>
          <a:xfrm>
            <a:off x="1051560" y="5394960"/>
            <a:ext cx="10058400" cy="4572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1" dirty="0">
                <a:solidFill>
                  <a:srgbClr val="B9D77A"/>
                </a:solidFill>
                <a:latin typeface="Aptos"/>
              </a:rPr>
              <a:t>H2 totals:  ~$5.2M city work   +   ~$946K private sales</a:t>
            </a:r>
          </a:p>
        </p:txBody>
      </p:sp>
      <p:sp>
        <p:nvSpPr>
          <p:cNvPr id="314" name="t31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t315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THE KEY MOVE</a:t>
            </a:r>
          </a:p>
        </p:txBody>
      </p:sp>
      <p:sp>
        <p:nvSpPr>
          <p:cNvPr id="316" name="t316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Don't stop at $24M</a:t>
            </a:r>
          </a:p>
        </p:txBody>
      </p:sp>
      <p:sp>
        <p:nvSpPr>
          <p:cNvPr id="317" name="r317"/>
          <p:cNvSpPr/>
          <p:nvPr/>
        </p:nvSpPr>
        <p:spPr>
          <a:xfrm>
            <a:off x="822960" y="2468880"/>
            <a:ext cx="10515600" cy="14630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18" name="r318"/>
          <p:cNvSpPr/>
          <p:nvPr/>
        </p:nvSpPr>
        <p:spPr>
          <a:xfrm>
            <a:off x="822960" y="2468880"/>
            <a:ext cx="182880" cy="1463040"/>
          </a:xfrm>
          <a:prstGeom prst="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319" name="t319"/>
          <p:cNvSpPr txBox="1"/>
          <p:nvPr/>
        </p:nvSpPr>
        <p:spPr>
          <a:xfrm>
            <a:off x="1234440" y="2697480"/>
            <a:ext cx="987552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800" b="1" dirty="0">
                <a:solidFill>
                  <a:srgbClr val="F2EFE6"/>
                </a:solidFill>
                <a:latin typeface="Aptos"/>
              </a:rPr>
              <a:t>The bonus keeps paying above $24M. Every extra $1 of sales is worth about $2 of bonus — up to the cap.</a:t>
            </a:r>
          </a:p>
        </p:txBody>
      </p:sp>
      <p:sp>
        <p:nvSpPr>
          <p:cNvPr id="320" name="t320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500" b="0" dirty="0">
                <a:solidFill>
                  <a:srgbClr val="9FAE95"/>
                </a:solidFill>
                <a:latin typeface="Aptos"/>
              </a:rPr>
              <a:t>So the instinct to 'ease off once we hit goal' is exactly wrong this year.</a:t>
            </a:r>
          </a:p>
        </p:txBody>
      </p:sp>
      <p:sp>
        <p:nvSpPr>
          <p:cNvPr id="321" name="r321"/>
          <p:cNvSpPr/>
          <p:nvPr/>
        </p:nvSpPr>
        <p:spPr>
          <a:xfrm>
            <a:off x="822960" y="4937760"/>
            <a:ext cx="10515600" cy="91440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322" name="t322"/>
          <p:cNvSpPr txBox="1"/>
          <p:nvPr/>
        </p:nvSpPr>
        <p:spPr>
          <a:xfrm>
            <a:off x="1143000" y="5074920"/>
            <a:ext cx="1005840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26332E"/>
                </a:solidFill>
                <a:latin typeface="Aptos"/>
              </a:rPr>
              <a:t>Keep the sales team at full push — that last stretch is worth ~$2M in bonus.</a:t>
            </a:r>
          </a:p>
        </p:txBody>
      </p:sp>
      <p:sp>
        <p:nvSpPr>
          <p:cNvPr id="323" name="t323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17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t324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B9D77A"/>
                </a:solidFill>
                <a:latin typeface="Aptos"/>
              </a:rPr>
              <a:t>PLAN B · THE TWO RULES</a:t>
            </a:r>
          </a:p>
        </p:txBody>
      </p:sp>
      <p:sp>
        <p:nvSpPr>
          <p:cNvPr id="325" name="t325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Two rules that protect the money</a:t>
            </a:r>
          </a:p>
        </p:txBody>
      </p:sp>
      <p:sp>
        <p:nvSpPr>
          <p:cNvPr id="326" name="r326"/>
          <p:cNvSpPr/>
          <p:nvPr/>
        </p:nvSpPr>
        <p:spPr>
          <a:xfrm>
            <a:off x="822960" y="2560320"/>
            <a:ext cx="10515600" cy="14630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27" name="t327"/>
          <p:cNvSpPr txBox="1"/>
          <p:nvPr/>
        </p:nvSpPr>
        <p:spPr>
          <a:xfrm>
            <a:off x="1143000" y="2743200"/>
            <a:ext cx="82296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4400" b="1" dirty="0">
                <a:solidFill>
                  <a:srgbClr val="D99028"/>
                </a:solidFill>
                <a:latin typeface="Aptos Display"/>
              </a:rPr>
              <a:t>1</a:t>
            </a:r>
          </a:p>
        </p:txBody>
      </p:sp>
      <p:sp>
        <p:nvSpPr>
          <p:cNvPr id="328" name="t328"/>
          <p:cNvSpPr txBox="1"/>
          <p:nvPr/>
        </p:nvSpPr>
        <p:spPr>
          <a:xfrm>
            <a:off x="2103120" y="2788920"/>
            <a:ext cx="91440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2EFE6"/>
                </a:solidFill>
                <a:latin typeface="Aptos Display"/>
              </a:rPr>
              <a:t>Front-load Sep–Oct</a:t>
            </a:r>
          </a:p>
        </p:txBody>
      </p:sp>
      <p:sp>
        <p:nvSpPr>
          <p:cNvPr id="329" name="t329"/>
          <p:cNvSpPr txBox="1"/>
          <p:nvPr/>
        </p:nvSpPr>
        <p:spPr>
          <a:xfrm>
            <a:off x="2103120" y="3429000"/>
            <a:ext cx="896112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Short winter days mean fewer crew hours in Nov–Dec. Do the work while the days are long.</a:t>
            </a:r>
          </a:p>
        </p:txBody>
      </p:sp>
      <p:sp>
        <p:nvSpPr>
          <p:cNvPr id="330" name="r330"/>
          <p:cNvSpPr/>
          <p:nvPr/>
        </p:nvSpPr>
        <p:spPr>
          <a:xfrm>
            <a:off x="822960" y="4206240"/>
            <a:ext cx="10515600" cy="14630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31" name="t331"/>
          <p:cNvSpPr txBox="1"/>
          <p:nvPr/>
        </p:nvSpPr>
        <p:spPr>
          <a:xfrm>
            <a:off x="1143000" y="4389120"/>
            <a:ext cx="822960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4400" b="1" dirty="0">
                <a:solidFill>
                  <a:srgbClr val="D99028"/>
                </a:solidFill>
                <a:latin typeface="Aptos Display"/>
              </a:rPr>
              <a:t>2</a:t>
            </a:r>
          </a:p>
        </p:txBody>
      </p:sp>
      <p:sp>
        <p:nvSpPr>
          <p:cNvPr id="332" name="t332"/>
          <p:cNvSpPr txBox="1"/>
          <p:nvPr/>
        </p:nvSpPr>
        <p:spPr>
          <a:xfrm>
            <a:off x="2103120" y="4434840"/>
            <a:ext cx="914400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2000" b="1" dirty="0">
                <a:solidFill>
                  <a:srgbClr val="F2EFE6"/>
                </a:solidFill>
                <a:latin typeface="Aptos Display"/>
              </a:rPr>
              <a:t>Close by Oct 31 — bill by early December</a:t>
            </a:r>
          </a:p>
        </p:txBody>
      </p:sp>
      <p:sp>
        <p:nvSpPr>
          <p:cNvPr id="333" name="t333"/>
          <p:cNvSpPr txBox="1"/>
          <p:nvPr/>
        </p:nvSpPr>
        <p:spPr>
          <a:xfrm>
            <a:off x="2103120" y="5074920"/>
            <a:ext cx="8961120" cy="5486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400" b="0" dirty="0">
                <a:solidFill>
                  <a:srgbClr val="9FAE95"/>
                </a:solidFill>
                <a:latin typeface="Aptos"/>
              </a:rPr>
              <a:t>Work has to be DONE and INVOICED in 2026 to count. December sales are next year's money.</a:t>
            </a:r>
          </a:p>
        </p:txBody>
      </p:sp>
      <p:sp>
        <p:nvSpPr>
          <p:cNvPr id="334" name="t334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63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335"/>
          <p:cNvSpPr txBox="1"/>
          <p:nvPr/>
        </p:nvSpPr>
        <p:spPr>
          <a:xfrm>
            <a:off x="82296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1300" b="1" dirty="0">
                <a:solidFill>
                  <a:srgbClr val="D99028"/>
                </a:solidFill>
                <a:latin typeface="Aptos"/>
              </a:rPr>
              <a:t>THE THROUGH-LINE</a:t>
            </a:r>
          </a:p>
        </p:txBody>
      </p:sp>
      <p:sp>
        <p:nvSpPr>
          <p:cNvPr id="336" name="t336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3000" b="1" dirty="0">
                <a:solidFill>
                  <a:srgbClr val="F2EFE6"/>
                </a:solidFill>
                <a:latin typeface="Aptos Display"/>
              </a:rPr>
              <a:t>Win 2026 to win the decade</a:t>
            </a:r>
          </a:p>
        </p:txBody>
      </p:sp>
      <p:sp>
        <p:nvSpPr>
          <p:cNvPr id="337" name="r337"/>
          <p:cNvSpPr/>
          <p:nvPr/>
        </p:nvSpPr>
        <p:spPr>
          <a:xfrm>
            <a:off x="822960" y="3200400"/>
            <a:ext cx="1965960" cy="118872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338" name="t338"/>
          <p:cNvSpPr txBox="1"/>
          <p:nvPr/>
        </p:nvSpPr>
        <p:spPr>
          <a:xfrm>
            <a:off x="960120" y="3246120"/>
            <a:ext cx="1691639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6332E"/>
                </a:solidFill>
                <a:latin typeface="Aptos"/>
              </a:rPr>
              <a:t>Win 2026</a:t>
            </a:r>
          </a:p>
        </p:txBody>
      </p:sp>
      <p:sp>
        <p:nvSpPr>
          <p:cNvPr id="339" name="t339"/>
          <p:cNvSpPr txBox="1"/>
          <p:nvPr/>
        </p:nvSpPr>
        <p:spPr>
          <a:xfrm>
            <a:off x="2788920" y="3429000"/>
            <a:ext cx="4572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340" name="r340"/>
          <p:cNvSpPr/>
          <p:nvPr/>
        </p:nvSpPr>
        <p:spPr>
          <a:xfrm>
            <a:off x="3200400" y="3200400"/>
            <a:ext cx="1965960" cy="118872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341" name="t341"/>
          <p:cNvSpPr txBox="1"/>
          <p:nvPr/>
        </p:nvSpPr>
        <p:spPr>
          <a:xfrm>
            <a:off x="3337560" y="3246120"/>
            <a:ext cx="1691639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6332E"/>
                </a:solidFill>
                <a:latin typeface="Aptos"/>
              </a:rPr>
              <a:t>Earn the bonus + prove we execute</a:t>
            </a:r>
          </a:p>
        </p:txBody>
      </p:sp>
      <p:sp>
        <p:nvSpPr>
          <p:cNvPr id="342" name="t342"/>
          <p:cNvSpPr txBox="1"/>
          <p:nvPr/>
        </p:nvSpPr>
        <p:spPr>
          <a:xfrm>
            <a:off x="5166360" y="3429000"/>
            <a:ext cx="4572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343" name="r343"/>
          <p:cNvSpPr/>
          <p:nvPr/>
        </p:nvSpPr>
        <p:spPr>
          <a:xfrm>
            <a:off x="5577840" y="3200400"/>
            <a:ext cx="1965960" cy="1188720"/>
          </a:xfrm>
          <a:prstGeom prst="roundRect">
            <a:avLst/>
          </a:prstGeom>
          <a:solidFill>
            <a:srgbClr val="B9D77A"/>
          </a:solidFill>
          <a:ln>
            <a:noFill/>
          </a:ln>
        </p:spPr>
        <p:txBody>
          <a:bodyPr/>
          <a:p/>
        </p:txBody>
      </p:sp>
      <p:sp>
        <p:nvSpPr>
          <p:cNvPr id="344" name="t344"/>
          <p:cNvSpPr txBox="1"/>
          <p:nvPr/>
        </p:nvSpPr>
        <p:spPr>
          <a:xfrm>
            <a:off x="5715000" y="3246120"/>
            <a:ext cx="1691639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6332E"/>
                </a:solidFill>
                <a:latin typeface="Aptos"/>
              </a:rPr>
              <a:t>Launch the 5-yr growth</a:t>
            </a:r>
          </a:p>
        </p:txBody>
      </p:sp>
      <p:sp>
        <p:nvSpPr>
          <p:cNvPr id="345" name="t345"/>
          <p:cNvSpPr txBox="1"/>
          <p:nvPr/>
        </p:nvSpPr>
        <p:spPr>
          <a:xfrm>
            <a:off x="7543800" y="3429000"/>
            <a:ext cx="4572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D99028"/>
                </a:solidFill>
                <a:latin typeface="Aptos Display"/>
              </a:rPr>
              <a:t>→</a:t>
            </a:r>
          </a:p>
        </p:txBody>
      </p:sp>
      <p:sp>
        <p:nvSpPr>
          <p:cNvPr id="346" name="r346"/>
          <p:cNvSpPr/>
          <p:nvPr/>
        </p:nvSpPr>
        <p:spPr>
          <a:xfrm>
            <a:off x="7955279" y="3200400"/>
            <a:ext cx="1965960" cy="1188720"/>
          </a:xfrm>
          <a:prstGeom prst="roundRect">
            <a:avLst/>
          </a:prstGeom>
          <a:solidFill>
            <a:srgbClr val="D99028"/>
          </a:solidFill>
          <a:ln>
            <a:noFill/>
          </a:ln>
        </p:spPr>
        <p:txBody>
          <a:bodyPr/>
          <a:p/>
        </p:txBody>
      </p:sp>
      <p:sp>
        <p:nvSpPr>
          <p:cNvPr id="347" name="t347"/>
          <p:cNvSpPr txBox="1"/>
          <p:nvPr/>
        </p:nvSpPr>
        <p:spPr>
          <a:xfrm>
            <a:off x="8092440" y="3246120"/>
            <a:ext cx="1691639" cy="10972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26332E"/>
                </a:solidFill>
                <a:latin typeface="Aptos"/>
              </a:rPr>
              <a:t>Exit at $125–150M</a:t>
            </a:r>
          </a:p>
        </p:txBody>
      </p:sp>
      <p:sp>
        <p:nvSpPr>
          <p:cNvPr id="348" name="t348"/>
          <p:cNvSpPr txBox="1"/>
          <p:nvPr/>
        </p:nvSpPr>
        <p:spPr>
          <a:xfrm>
            <a:off x="9921240" y="3429000"/>
            <a:ext cx="457200" cy="82296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ctr">
              <a:lnSpc>
                <a:spcPct val="100000"/>
              </a:lnSpc>
            </a:pPr>
            <a:r>
              <a:rPr lang="en-US" sz="2600" b="1" dirty="0">
                <a:solidFill>
                  <a:srgbClr val="B9D77A"/>
                </a:solidFill>
                <a:latin typeface="Aptos Display"/>
              </a:rPr>
              <a:t>→</a:t>
            </a:r>
          </a:p>
        </p:txBody>
      </p:sp>
      <p:sp>
        <p:nvSpPr>
          <p:cNvPr id="349" name="r349"/>
          <p:cNvSpPr/>
          <p:nvPr/>
        </p:nvSpPr>
        <p:spPr>
          <a:xfrm>
            <a:off x="822960" y="4937760"/>
            <a:ext cx="10515600" cy="1005840"/>
          </a:xfrm>
          <a:prstGeom prst="roundRect">
            <a:avLst/>
          </a:prstGeom>
          <a:solidFill>
            <a:srgbClr val="1C2621"/>
          </a:solidFill>
          <a:ln>
            <a:noFill/>
          </a:ln>
        </p:spPr>
        <p:txBody>
          <a:bodyPr/>
          <a:p/>
        </p:txBody>
      </p:sp>
      <p:sp>
        <p:nvSpPr>
          <p:cNvPr id="350" name="t350"/>
          <p:cNvSpPr txBox="1"/>
          <p:nvPr/>
        </p:nvSpPr>
        <p:spPr>
          <a:xfrm>
            <a:off x="1143000" y="5120640"/>
            <a:ext cx="1005840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p>
            <a:pPr algn="l">
              <a:lnSpc>
                <a:spcPct val="100000"/>
              </a:lnSpc>
            </a:pPr>
            <a:r>
              <a:rPr lang="en-US" sz="1600" b="1" dirty="0">
                <a:solidFill>
                  <a:srgbClr val="F2EFE6"/>
                </a:solidFill>
                <a:latin typeface="Aptos"/>
              </a:rPr>
              <a:t>Every step compounds into the value of your equity. The next 5 months set up the next 5 years.</a:t>
            </a:r>
          </a:p>
        </p:txBody>
      </p:sp>
      <p:sp>
        <p:nvSpPr>
          <p:cNvPr id="351" name="t351"/>
          <p:cNvSpPr txBox="1"/>
          <p:nvPr/>
        </p:nvSpPr>
        <p:spPr>
          <a:xfrm>
            <a:off x="822960" y="6400800"/>
            <a:ext cx="10515600" cy="320040"/>
          </a:xfrm>
          <a:prstGeom prst="rect">
            <a:avLst/>
          </a:prstGeom>
          <a:noFill/>
        </p:spPr>
        <p:txBody>
          <a:bodyPr wrap="square" anchor="t">
            <a:normAutofit/>
          </a:bodyPr>
          <a:p>
            <a:pPr algn="l">
              <a:lnSpc>
                <a:spcPct val="100000"/>
              </a:lnSpc>
            </a:pPr>
            <a:r>
              <a:rPr lang="en-US" sz="900" b="0" dirty="0">
                <a:solidFill>
                  <a:srgbClr val="9FAE95"/>
                </a:solidFill>
                <a:latin typeface="Aptos"/>
              </a:rPr>
              <a:t>GREAT SCOTT TREE CARE   ·   CONFIDENTIAL   ·   19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GSTS">
  <a:themeElements>
    <a:clrScheme name="GSTS">
      <a:dk1>
        <a:srgbClr val="1C2621"/>
      </a:dk1>
      <a:lt1>
        <a:srgbClr val="F2EFE6"/>
      </a:lt1>
      <a:dk2>
        <a:srgbClr val="26332E"/>
      </a:dk2>
      <a:lt2>
        <a:srgbClr val="B9D77A"/>
      </a:lt2>
      <a:accent1>
        <a:srgbClr val="B9D77A"/>
      </a:accent1>
      <a:accent2>
        <a:srgbClr val="D99028"/>
      </a:accent2>
      <a:accent3>
        <a:srgbClr val="6E8A4E"/>
      </a:accent3>
      <a:accent4>
        <a:srgbClr val="9FAE95"/>
      </a:accent4>
      <a:accent5>
        <a:srgbClr val="F2EFE6"/>
      </a:accent5>
      <a:accent6>
        <a:srgbClr val="1C2621"/>
      </a:accent6>
      <a:hlink>
        <a:srgbClr val="B9D77A"/>
      </a:hlink>
      <a:folHlink>
        <a:srgbClr val="D99028"/>
      </a:folHlink>
    </a:clrScheme>
    <a:fontScheme name="GST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GS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>
          <a:solidFill>
            <a:schemeClr val="phClr"/>
          </a:solidFill>
        </a:ln>
        <a:ln>
          <a:solidFill>
            <a:schemeClr val="phClr"/>
          </a:solidFill>
        </a:ln>
        <a:ln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