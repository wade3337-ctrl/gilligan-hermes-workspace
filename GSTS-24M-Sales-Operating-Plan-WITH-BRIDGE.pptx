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D77A"/>
          </a:solidFill>
          <a:ln w="12700">
            <a:solidFill>
              <a:srgbClr val="B9D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PROTECT $4.06M OF NEW SALES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46720" y="393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C7D5CF"/>
                </a:solidFill>
              </a:rPr>
              <a:t>Decision frame — produced-revenue support plan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77824"/>
            <a:ext cx="7086600" cy="1901952"/>
          </a:xfrm>
          <a:prstGeom prst="roundRect">
            <a:avLst>
              <a:gd name="adj" fmla="val 5769"/>
            </a:avLst>
          </a:prstGeom>
          <a:solidFill>
            <a:srgbClr val="174A3A"/>
          </a:solidFill>
          <a:ln w="17780">
            <a:solidFill>
              <a:srgbClr val="17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4300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B9D77A"/>
                </a:solidFill>
              </a:rPr>
              <a:t>$4.06M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14400" y="1911096"/>
            <a:ext cx="6263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PROTECTED ADDITIONAL-SALES TARGET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6DF"/>
                </a:solidFill>
              </a:rPr>
              <a:t>Close by October 15 — then schedule and produce by December 31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91272" y="877824"/>
            <a:ext cx="37947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1033272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56E"/>
                </a:solidFill>
              </a:rPr>
              <a:t>2026 PRODUCED-REVENUE GOAL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982712" y="126187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4A3A"/>
                </a:solidFill>
              </a:rPr>
              <a:t>$24M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891272" y="1865376"/>
            <a:ext cx="37947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2712" y="2020824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56E"/>
                </a:solidFill>
              </a:rPr>
              <a:t>COMPLETED + SOLD/SCHEDULED COVERAGE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982712" y="224942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684F"/>
                </a:solidFill>
              </a:rPr>
              <a:t>$19.94M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D77A"/>
                </a:solidFill>
              </a:rPr>
              <a:t>PACE TEST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7086600" cy="1481328"/>
          </a:xfrm>
          <a:prstGeom prst="roundRect">
            <a:avLst>
              <a:gd name="adj" fmla="val 7407"/>
            </a:avLst>
          </a:prstGeom>
          <a:solidFill>
            <a:srgbClr val="F8FAF8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6732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Historical private Sold pace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986784"/>
            <a:ext cx="5577840" cy="246888"/>
          </a:xfrm>
          <a:prstGeom prst="roundRect">
            <a:avLst>
              <a:gd name="adj" fmla="val 37037"/>
            </a:avLst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40233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$335K / week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Required protected pace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4562856"/>
            <a:ext cx="5084064" cy="246888"/>
          </a:xfrm>
          <a:prstGeom prst="roundRect">
            <a:avLst>
              <a:gd name="adj" fmla="val 37037"/>
            </a:avLst>
          </a:prstGeom>
          <a:solidFill>
            <a:srgbClr val="B9D77A"/>
          </a:solidFill>
          <a:ln w="12700">
            <a:solidFill>
              <a:srgbClr val="B9D7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$306K / week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300984"/>
            <a:ext cx="7086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D5CF"/>
                </a:solidFill>
              </a:rPr>
              <a:t>Historical pace shows selling capacity only — it is not incremental coverage against the $4.06M gap.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891272" y="3127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D77A"/>
                </a:solidFill>
              </a:rPr>
              <a:t>SCENARIOS — NOT TARGET REDUCTIONS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91272" y="3493008"/>
            <a:ext cx="379476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7780">
            <a:solidFill>
              <a:srgbClr val="2368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621024"/>
            <a:ext cx="777240" cy="246888"/>
          </a:xfrm>
          <a:prstGeom prst="roundRect">
            <a:avLst>
              <a:gd name="adj" fmla="val 44444"/>
            </a:avLst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368960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PROTECTED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006840" y="3639312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684F"/>
                </a:solidFill>
              </a:rPr>
              <a:t>$4.06M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195560" y="36667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Manage sales to this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91272" y="4114800"/>
            <a:ext cx="379476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7780">
            <a:solidFill>
              <a:srgbClr val="D990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4242816"/>
            <a:ext cx="777240" cy="246888"/>
          </a:xfrm>
          <a:prstGeom prst="roundRect">
            <a:avLst>
              <a:gd name="adj" fmla="val 44444"/>
            </a:avLst>
          </a:prstGeom>
          <a:solidFill>
            <a:srgbClr val="D99028"/>
          </a:solidFill>
          <a:ln w="12700">
            <a:solidFill>
              <a:srgbClr val="D990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431139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332E"/>
                </a:solidFill>
              </a:rPr>
              <a:t>CONDITIONAL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06840" y="4261104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9028"/>
                </a:solidFill>
              </a:rPr>
              <a:t>$2.03M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195560" y="42885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Do not reduce yet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91272" y="4736592"/>
            <a:ext cx="379476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4864608"/>
            <a:ext cx="777240" cy="246888"/>
          </a:xfrm>
          <a:prstGeom prst="roundRect">
            <a:avLst>
              <a:gd name="adj" fmla="val 44444"/>
            </a:avLst>
          </a:prstGeom>
          <a:solidFill>
            <a:srgbClr val="74A57F"/>
          </a:solidFill>
          <a:ln w="12700">
            <a:solidFill>
              <a:srgbClr val="74A5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93318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MATH ONLY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006840" y="4882896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4A57F"/>
                </a:solidFill>
              </a:rPr>
              <a:t>$1.50M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195560" y="49103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Not a quota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5440680"/>
            <a:ext cx="11183112" cy="804672"/>
          </a:xfrm>
          <a:prstGeom prst="roundRect">
            <a:avLst>
              <a:gd name="adj" fmla="val 13636"/>
            </a:avLst>
          </a:prstGeom>
          <a:solidFill>
            <a:srgbClr val="4A2F22"/>
          </a:solidFill>
          <a:ln w="17780">
            <a:solidFill>
              <a:srgbClr val="D990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623560"/>
            <a:ext cx="10725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D9A3"/>
                </a:solidFill>
              </a:rPr>
              <a:t>DO NOT LOWER THE $4.06M TARGET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2960" y="5925312"/>
            <a:ext cx="10543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Reduce it only when specific post-cutoff work is count-once, approved, scheduled, capacity-approved, and producible in 2026.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629400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0B8"/>
                </a:solidFill>
              </a:rPr>
              <a:t>Draft management challenge plan  |  TRIM IT PLAY through July 13, 2026  |  PLAY normally lags production ~24h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475720" y="6629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C0B8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D77A"/>
          </a:solidFill>
          <a:ln w="12700">
            <a:solidFill>
              <a:srgbClr val="B9D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32E"/>
                </a:solidFill>
              </a:rPr>
              <a:t>WHAT SALES MUST DELIVER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46720" y="393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6756E"/>
                </a:solidFill>
              </a:rPr>
              <a:t>Protected company requirement — draft market allocation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7132320" cy="1691640"/>
          </a:xfrm>
          <a:prstGeom prst="roundRect">
            <a:avLst>
              <a:gd name="adj" fmla="val 6486"/>
            </a:avLst>
          </a:prstGeom>
          <a:solidFill>
            <a:srgbClr val="174A3A"/>
          </a:solidFill>
          <a:ln w="17780">
            <a:solidFill>
              <a:srgbClr val="174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70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453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9D77A"/>
                </a:solidFill>
              </a:rPr>
              <a:t>$3.21M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13055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6DF"/>
                </a:solidFill>
              </a:rPr>
              <a:t>79% of protected target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86200" y="1170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COMMERCIAL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15453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9028"/>
                </a:solidFill>
              </a:rPr>
              <a:t>$852K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886200" y="213055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6DF"/>
                </a:solidFill>
              </a:rPr>
              <a:t>21% of protected 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09560" y="914400"/>
            <a:ext cx="377647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7780">
            <a:solidFill>
              <a:srgbClr val="2368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353312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3684F"/>
                </a:solidFill>
              </a:rPr>
              <a:t>$5.54M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229600" y="1920240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32E"/>
                </a:solidFill>
              </a:rPr>
              <a:t>REP-RATE PROPOSAL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2267712"/>
            <a:ext cx="3136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56E"/>
                </a:solidFill>
              </a:rPr>
              <a:t>Uses each rep’s historical dollar close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3A"/>
                </a:solidFill>
              </a:rPr>
              <a:t>THE CONVERSION PATH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2514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39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4A3A"/>
                </a:solidFill>
              </a:rPr>
              <a:t>$5.54M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85800" y="40507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PROPOSALS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432511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Rep-rate plan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44952" y="37947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9028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429000" y="3383280"/>
            <a:ext cx="2514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7780">
            <a:solidFill>
              <a:srgbClr val="B9D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639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4A3A"/>
                </a:solidFill>
              </a:rPr>
              <a:t>$4.06M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3611880" y="40507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CUSTOMER-APPROVED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432511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Protected sales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71032" y="37947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9028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355080" y="3383280"/>
            <a:ext cx="2514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639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4A3A"/>
                </a:solidFill>
              </a:rPr>
              <a:t>EACH SALE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6537960" y="40507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2026 PATH CHECK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432511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Must pass before counting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897112" y="37947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9028"/>
                </a:solidFill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281160" y="3383280"/>
            <a:ext cx="25146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7780">
            <a:solidFill>
              <a:srgbClr val="B9D7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4040" y="3639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4A3A"/>
                </a:solidFill>
              </a:rPr>
              <a:t>$4.06M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9464040" y="40507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PRODUCED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64040" y="432511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By Dec. 31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5010912"/>
            <a:ext cx="11183112" cy="1170432"/>
          </a:xfrm>
          <a:prstGeom prst="roundRect">
            <a:avLst>
              <a:gd name="adj" fmla="val 9375"/>
            </a:avLst>
          </a:prstGeom>
          <a:solidFill>
            <a:srgbClr val="EAF0EC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5303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3A"/>
                </a:solidFill>
              </a:rPr>
              <a:t>COUNT-ONCE RULE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" y="562356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32E"/>
                </a:solidFill>
              </a:rPr>
              <a:t>A dollar can move from Sold → Scheduled → Produced, but it reduces the company gap only once.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9808" y="592531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6E"/>
                </a:solidFill>
              </a:rPr>
              <a:t>The 79% / 21% split is a management allocation of the company gap — not proof of each market’s independent deficit.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6629400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6E"/>
                </a:solidFill>
              </a:rPr>
              <a:t>Draft management challenge plan  |  TRIM IT PLAY through July 13, 2026  |  PLAY normally lags production ~24h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475720" y="6629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D77A"/>
          </a:solidFill>
          <a:ln w="12700">
            <a:solidFill>
              <a:srgbClr val="B9D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DRAFT REP ALLOCATION — NOT FINAL EMPLOYEE QUOTAS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46720" y="393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C7D5CF"/>
                </a:solidFill>
              </a:rPr>
              <a:t>Management review required before approval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5394960" cy="1901952"/>
          </a:xfrm>
          <a:prstGeom prst="roundRect">
            <a:avLst>
              <a:gd name="adj" fmla="val 5769"/>
            </a:avLst>
          </a:prstGeom>
          <a:solidFill>
            <a:srgbClr val="F8FAF8"/>
          </a:solidFill>
          <a:ln w="17780">
            <a:solidFill>
              <a:srgbClr val="2368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78992"/>
            <a:ext cx="1143000" cy="246888"/>
          </a:xfrm>
          <a:prstGeom prst="roundRect">
            <a:avLst>
              <a:gd name="adj" fmla="val 44444"/>
            </a:avLst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757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DRAFT ALLOCATION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331720" y="111556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332E"/>
                </a:solidFill>
              </a:rPr>
              <a:t>GARRETT CORNISH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2763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SOLD TARGET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684F"/>
                </a:solidFill>
              </a:rPr>
              <a:t>$1.56M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PROPOSAL PLAN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468880" y="18653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A3A"/>
                </a:solidFill>
              </a:rPr>
              <a:t>$2.36M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89120" y="162763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$ CLOSE RATE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389120" y="1865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32E"/>
                </a:solidFill>
              </a:rPr>
              <a:t>66%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56E"/>
                </a:solidFill>
              </a:rPr>
              <a:t>$1.39M HOA  |  $170K Commercial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914400"/>
            <a:ext cx="5394960" cy="1901952"/>
          </a:xfrm>
          <a:prstGeom prst="roundRect">
            <a:avLst>
              <a:gd name="adj" fmla="val 5769"/>
            </a:avLst>
          </a:prstGeom>
          <a:solidFill>
            <a:srgbClr val="F8FAF8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078992"/>
            <a:ext cx="1143000" cy="246888"/>
          </a:xfrm>
          <a:prstGeom prst="roundRect">
            <a:avLst>
              <a:gd name="adj" fmla="val 44444"/>
            </a:avLst>
          </a:prstGeom>
          <a:solidFill>
            <a:srgbClr val="74A57F"/>
          </a:solidFill>
          <a:ln w="12700">
            <a:solidFill>
              <a:srgbClr val="74A5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14757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DRAFT ALLOCATION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092440" y="111556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332E"/>
                </a:solidFill>
              </a:rPr>
              <a:t>REBEKAH BARKER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162763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SOLD TARGET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83680" y="18653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4A57F"/>
                </a:solidFill>
              </a:rPr>
              <a:t>$1.04M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0" y="16276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PROPOSAL PLAN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29600" y="18653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A3A"/>
                </a:solidFill>
              </a:rPr>
              <a:t>$1.27M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149840" y="162763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$ CLOSE RATE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149840" y="1865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32E"/>
                </a:solidFill>
              </a:rPr>
              <a:t>82%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37960" y="246888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56E"/>
                </a:solidFill>
              </a:rPr>
              <a:t>$930K HOA  |  $110K Commercial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090672"/>
            <a:ext cx="5394960" cy="1901952"/>
          </a:xfrm>
          <a:prstGeom prst="roundRect">
            <a:avLst>
              <a:gd name="adj" fmla="val 5769"/>
            </a:avLst>
          </a:prstGeom>
          <a:solidFill>
            <a:srgbClr val="F8FAF8"/>
          </a:solidFill>
          <a:ln w="17780">
            <a:solidFill>
              <a:srgbClr val="D990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255264"/>
            <a:ext cx="1143000" cy="246888"/>
          </a:xfrm>
          <a:prstGeom prst="roundRect">
            <a:avLst>
              <a:gd name="adj" fmla="val 44444"/>
            </a:avLst>
          </a:prstGeom>
          <a:solidFill>
            <a:srgbClr val="D99028"/>
          </a:solidFill>
          <a:ln w="12700">
            <a:solidFill>
              <a:srgbClr val="D990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323844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332E"/>
                </a:solidFill>
              </a:rPr>
              <a:t>DRAFT ALLOCATION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331720" y="329184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332E"/>
                </a:solidFill>
              </a:rPr>
              <a:t>SCOTT GRIFFITHS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380390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SOLD TARGET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028"/>
                </a:solidFill>
              </a:rPr>
              <a:t>$760K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468880" y="380390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PROPOSAL PLAN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468880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A3A"/>
                </a:solidFill>
              </a:rPr>
              <a:t>$1.01M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389120" y="380390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$ CLOSE RATE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38912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32E"/>
                </a:solidFill>
              </a:rPr>
              <a:t>75%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77240" y="4645152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56E"/>
                </a:solidFill>
              </a:rPr>
              <a:t>$300K HOA  |  $460K Commercial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3090672"/>
            <a:ext cx="5394960" cy="1901952"/>
          </a:xfrm>
          <a:prstGeom prst="roundRect">
            <a:avLst>
              <a:gd name="adj" fmla="val 5769"/>
            </a:avLst>
          </a:prstGeom>
          <a:solidFill>
            <a:srgbClr val="F8FAF8"/>
          </a:solidFill>
          <a:ln w="17780">
            <a:solidFill>
              <a:srgbClr val="B9D7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3255264"/>
            <a:ext cx="1143000" cy="246888"/>
          </a:xfrm>
          <a:prstGeom prst="roundRect">
            <a:avLst>
              <a:gd name="adj" fmla="val 44444"/>
            </a:avLst>
          </a:prstGeom>
          <a:solidFill>
            <a:srgbClr val="B9D77A"/>
          </a:solidFill>
          <a:ln w="12700">
            <a:solidFill>
              <a:srgbClr val="B9D7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3323844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DRAFT ALLOCATION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092440" y="329184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332E"/>
                </a:solidFill>
              </a:rPr>
              <a:t>ETHAN CHESLEY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83680" y="380390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SOLD TARGET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583680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D77A"/>
                </a:solidFill>
              </a:rPr>
              <a:t>$699K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8229600" y="380390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PROPOSAL PLAN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229600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A3A"/>
                </a:solidFill>
              </a:rPr>
              <a:t>$896K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0149840" y="380390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$ CLOSE RATE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014984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32E"/>
                </a:solidFill>
              </a:rPr>
              <a:t>78%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537960" y="4645152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56E"/>
                </a:solidFill>
              </a:rPr>
              <a:t>$587K HOA  |  $112K Commercial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5047488"/>
            <a:ext cx="11183112" cy="274320"/>
          </a:xfrm>
          <a:prstGeom prst="roundRect">
            <a:avLst>
              <a:gd name="adj" fmla="val 40000"/>
            </a:avLst>
          </a:prstGeom>
          <a:solidFill>
            <a:srgbClr val="EAF0EC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5129784"/>
            <a:ext cx="10725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A3A"/>
                </a:solidFill>
              </a:rPr>
              <a:t>TEAM RECONCILIATION   $4.059M SOLD   |   $5.536M PROPOSALS   |   $3.207M HOA   |   $852K COMMERCIAL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502920" y="5413248"/>
            <a:ext cx="11183112" cy="804672"/>
          </a:xfrm>
          <a:prstGeom prst="roundRect">
            <a:avLst>
              <a:gd name="adj" fmla="val 13636"/>
            </a:avLst>
          </a:prstGeom>
          <a:solidFill>
            <a:srgbClr val="4A2F22"/>
          </a:solidFill>
          <a:ln w="17780">
            <a:solidFill>
              <a:srgbClr val="D990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" y="56692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D9A3"/>
                </a:solidFill>
              </a:rPr>
              <a:t>APPROVAL GATE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240280" y="5614416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Nate + Skipper review opportunity value, ownership, workload, market mix, sales-cycle timing, production lane, and compensation implications before issuing quotas.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2920" y="6629400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0B8"/>
                </a:solidFill>
              </a:rPr>
              <a:t>Draft management challenge plan  |  TRIM IT PLAY through July 13, 2026  |  PLAY normally lags production ~24h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475720" y="6629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C0B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D77A"/>
          </a:solidFill>
          <a:ln w="12700">
            <a:solidFill>
              <a:srgbClr val="B9D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32E"/>
                </a:solidFill>
              </a:rPr>
              <a:t>SMOOTH CLOSE-BY MILESTONES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46720" y="393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6756E"/>
                </a:solidFill>
              </a:rPr>
              <a:t>One protected pace — no October back-load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77824"/>
            <a:ext cx="34564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33272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56E"/>
                </a:solidFill>
              </a:rPr>
              <a:t>REQUIRED PROTECTED SOLD PACE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3273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684F"/>
                </a:solidFill>
              </a:rPr>
              <a:t>$306K / week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370832" y="877824"/>
            <a:ext cx="34564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033272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56E"/>
                </a:solidFill>
              </a:rPr>
              <a:t>HISTORICAL JAN–JUN PACE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62272" y="1261872"/>
            <a:ext cx="3273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4A3A"/>
                </a:solidFill>
              </a:rPr>
              <a:t>$335K / week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57032" y="877824"/>
            <a:ext cx="34290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033272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56E"/>
                </a:solidFill>
              </a:rPr>
              <a:t>CLOSE-BY DEADLINE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348472" y="12618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9028"/>
                </a:solidFill>
              </a:rPr>
              <a:t>October 15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02920" y="1901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3A"/>
                </a:solidFill>
              </a:rPr>
              <a:t>CUMULATIVE CUSTOMER-APPROVED SALES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34440" y="2816352"/>
            <a:ext cx="9738360" cy="0"/>
          </a:xfrm>
          <a:prstGeom prst="line">
            <a:avLst/>
          </a:prstGeom>
          <a:noFill/>
          <a:ln w="63500">
            <a:solidFill>
              <a:srgbClr val="74A5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2642616"/>
            <a:ext cx="347472" cy="347472"/>
          </a:xfrm>
          <a:prstGeom prst="ellipse">
            <a:avLst/>
          </a:prstGeom>
          <a:solidFill>
            <a:srgbClr val="23684F"/>
          </a:solidFill>
          <a:ln w="38100">
            <a:solidFill>
              <a:srgbClr val="B9D7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A3A"/>
                </a:solidFill>
              </a:rPr>
              <a:t>$750K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317296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JUL 31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06824" y="2642616"/>
            <a:ext cx="347472" cy="347472"/>
          </a:xfrm>
          <a:prstGeom prst="ellipse">
            <a:avLst/>
          </a:prstGeom>
          <a:solidFill>
            <a:srgbClr val="23684F"/>
          </a:solidFill>
          <a:ln w="38100">
            <a:solidFill>
              <a:srgbClr val="B9D7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A3A"/>
                </a:solidFill>
              </a:rPr>
              <a:t>$2.10M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31920" y="317296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AUG 31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52944" y="2642616"/>
            <a:ext cx="347472" cy="347472"/>
          </a:xfrm>
          <a:prstGeom prst="ellipse">
            <a:avLst/>
          </a:prstGeom>
          <a:solidFill>
            <a:srgbClr val="23684F"/>
          </a:solidFill>
          <a:ln w="38100">
            <a:solidFill>
              <a:srgbClr val="B9D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A3A"/>
                </a:solidFill>
              </a:rPr>
              <a:t>$3.41M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78040" y="317296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SEP 30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799064" y="2642616"/>
            <a:ext cx="347472" cy="347472"/>
          </a:xfrm>
          <a:prstGeom prst="ellipse">
            <a:avLst/>
          </a:prstGeom>
          <a:solidFill>
            <a:srgbClr val="23684F"/>
          </a:solidFill>
          <a:ln w="38100">
            <a:solidFill>
              <a:srgbClr val="B9D7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7000" y="2167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A3A"/>
                </a:solidFill>
              </a:rPr>
              <a:t>$4.06M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424160" y="317296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2E"/>
                </a:solidFill>
              </a:rPr>
              <a:t>OCT 15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813048"/>
            <a:ext cx="11183112" cy="2395728"/>
          </a:xfrm>
          <a:prstGeom prst="roundRect">
            <a:avLst>
              <a:gd name="adj" fmla="val 4580"/>
            </a:avLst>
          </a:prstGeom>
          <a:solidFill>
            <a:srgbClr val="174A3A"/>
          </a:solidFill>
          <a:ln w="17780">
            <a:solidFill>
              <a:srgbClr val="174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0965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D77A"/>
                </a:solidFill>
              </a:rPr>
              <a:t>A SALE HELPS THE $24M GOAL ONLY AFTER THIS HANDOFF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498848"/>
            <a:ext cx="2487168" cy="1051560"/>
          </a:xfrm>
          <a:prstGeom prst="roundRect">
            <a:avLst>
              <a:gd name="adj" fmla="val 10435"/>
            </a:avLst>
          </a:prstGeom>
          <a:solidFill>
            <a:srgbClr val="F8FAF8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4727448"/>
            <a:ext cx="365760" cy="365760"/>
          </a:xfrm>
          <a:prstGeom prst="ellipse">
            <a:avLst/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84632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89888" y="46908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32E"/>
                </a:solidFill>
              </a:rPr>
              <a:t>CUSTOMER APPROVED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89888" y="5010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Post-cutoff, incremental sale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547872" y="4498848"/>
            <a:ext cx="2487168" cy="1051560"/>
          </a:xfrm>
          <a:prstGeom prst="roundRect">
            <a:avLst>
              <a:gd name="adj" fmla="val 10435"/>
            </a:avLst>
          </a:prstGeom>
          <a:solidFill>
            <a:srgbClr val="F8FAF8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12464" y="4727448"/>
            <a:ext cx="365760" cy="365760"/>
          </a:xfrm>
          <a:prstGeom prst="ellipse">
            <a:avLst/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12464" y="484632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06240" y="46908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32E"/>
                </a:solidFill>
              </a:rPr>
              <a:t>WORK ORDER READY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06240" y="5010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Scope and value confirmed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64224" y="4498848"/>
            <a:ext cx="2487168" cy="1051560"/>
          </a:xfrm>
          <a:prstGeom prst="roundRect">
            <a:avLst>
              <a:gd name="adj" fmla="val 10435"/>
            </a:avLst>
          </a:prstGeom>
          <a:solidFill>
            <a:srgbClr val="F8FAF8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4727448"/>
            <a:ext cx="365760" cy="365760"/>
          </a:xfrm>
          <a:prstGeom prst="ellipse">
            <a:avLst/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484632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22592" y="46908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32E"/>
                </a:solidFill>
              </a:rPr>
              <a:t>CAPACITY APPROVED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22592" y="5010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Operations accepts 2026 fit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180576" y="4498848"/>
            <a:ext cx="2487168" cy="1051560"/>
          </a:xfrm>
          <a:prstGeom prst="roundRect">
            <a:avLst>
              <a:gd name="adj" fmla="val 10435"/>
            </a:avLst>
          </a:prstGeom>
          <a:solidFill>
            <a:srgbClr val="F8FAF8"/>
          </a:solidFill>
          <a:ln w="17780">
            <a:solidFill>
              <a:srgbClr val="B9D7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45168" y="4727448"/>
            <a:ext cx="365760" cy="365760"/>
          </a:xfrm>
          <a:prstGeom prst="ellipse">
            <a:avLst/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45168" y="484632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838944" y="46908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32E"/>
                </a:solidFill>
              </a:rPr>
              <a:t>PRODUCTION DATE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838944" y="5010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Scheduled before Dec. 31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" y="5925312"/>
            <a:ext cx="10634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without a valid 2026 production path remains a sales win — but does not close the produced-revenue gap.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" y="6629400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6E"/>
                </a:solidFill>
              </a:rPr>
              <a:t>Draft management challenge plan  |  TRIM IT PLAY through July 13, 2026  |  PLAY normally lags production ~24h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475720" y="6629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D77A"/>
          </a:solidFill>
          <a:ln w="12700">
            <a:solidFill>
              <a:srgbClr val="B9D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6332E"/>
                </a:solidFill>
              </a:rPr>
              <a:t>WHERE THE PIPELINE COMES FROM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46720" y="393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6756E"/>
                </a:solidFill>
              </a:rPr>
              <a:t>Live Sales Cockpit opportunity pool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877824"/>
            <a:ext cx="32461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33272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56E"/>
                </a:solidFill>
              </a:rPr>
              <a:t>RUNNING DRY TOTAL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684F"/>
                </a:solidFill>
              </a:rPr>
              <a:t>204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931920" y="877824"/>
            <a:ext cx="32461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033272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56E"/>
                </a:solidFill>
              </a:rPr>
              <a:t>OF 204 STILL WORKING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23360" y="126187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4A3A"/>
                </a:solidFill>
              </a:rPr>
              <a:t>6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60920" y="877824"/>
            <a:ext cx="32461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033272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56E"/>
                </a:solidFill>
              </a:rPr>
              <a:t>OF 204 UNASSIGNED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52360" y="126187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9028"/>
                </a:solidFill>
              </a:rPr>
              <a:t>24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789920" y="877824"/>
            <a:ext cx="89611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0" y="103327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56E"/>
                </a:solidFill>
              </a:rPr>
              <a:t>CUTOFF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881360" y="12618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4A3A"/>
                </a:solidFill>
              </a:rPr>
              <a:t>7/14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02920" y="2075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3A"/>
                </a:solidFill>
              </a:rPr>
              <a:t>204 TOTAL — OWNERSHIP SPLIT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48716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32E"/>
                </a:solidFill>
              </a:rPr>
              <a:t>Rebekah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00200" y="2423160"/>
            <a:ext cx="4389120" cy="256032"/>
          </a:xfrm>
          <a:prstGeom prst="roundRect">
            <a:avLst>
              <a:gd name="adj" fmla="val 28571"/>
            </a:avLst>
          </a:prstGeom>
          <a:solidFill>
            <a:srgbClr val="D7DED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2423160"/>
            <a:ext cx="4389120" cy="256032"/>
          </a:xfrm>
          <a:prstGeom prst="roundRect">
            <a:avLst>
              <a:gd name="adj" fmla="val 28571"/>
            </a:avLst>
          </a:prstGeom>
          <a:solidFill>
            <a:srgbClr val="74A57F"/>
          </a:solidFill>
          <a:ln w="12700">
            <a:solidFill>
              <a:srgbClr val="74A5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4780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A57F"/>
                </a:solidFill>
              </a:rPr>
              <a:t>60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9169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32E"/>
                </a:solidFill>
              </a:rPr>
              <a:t>Scott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00200" y="2852928"/>
            <a:ext cx="4389120" cy="256032"/>
          </a:xfrm>
          <a:prstGeom prst="roundRect">
            <a:avLst>
              <a:gd name="adj" fmla="val 28571"/>
            </a:avLst>
          </a:prstGeom>
          <a:solidFill>
            <a:srgbClr val="D7DED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2852928"/>
            <a:ext cx="3584448" cy="256032"/>
          </a:xfrm>
          <a:prstGeom prst="roundRect">
            <a:avLst>
              <a:gd name="adj" fmla="val 28571"/>
            </a:avLst>
          </a:prstGeom>
          <a:solidFill>
            <a:srgbClr val="D99028"/>
          </a:solidFill>
          <a:ln w="12700">
            <a:solidFill>
              <a:srgbClr val="D990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9077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028"/>
                </a:solidFill>
              </a:rPr>
              <a:t>49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3467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32E"/>
                </a:solidFill>
              </a:rPr>
              <a:t>Garrett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00200" y="3282696"/>
            <a:ext cx="4389120" cy="256032"/>
          </a:xfrm>
          <a:prstGeom prst="roundRect">
            <a:avLst>
              <a:gd name="adj" fmla="val 28571"/>
            </a:avLst>
          </a:prstGeom>
          <a:solidFill>
            <a:srgbClr val="D7DED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0200" y="3282696"/>
            <a:ext cx="2852928" cy="256032"/>
          </a:xfrm>
          <a:prstGeom prst="roundRect">
            <a:avLst>
              <a:gd name="adj" fmla="val 28571"/>
            </a:avLst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33375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684F"/>
                </a:solidFill>
              </a:rPr>
              <a:t>39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77647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32E"/>
                </a:solidFill>
              </a:rPr>
              <a:t>Ethan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00200" y="3712464"/>
            <a:ext cx="4389120" cy="256032"/>
          </a:xfrm>
          <a:prstGeom prst="roundRect">
            <a:avLst>
              <a:gd name="adj" fmla="val 28571"/>
            </a:avLst>
          </a:prstGeom>
          <a:solidFill>
            <a:srgbClr val="D7DED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00200" y="3712464"/>
            <a:ext cx="2340864" cy="256032"/>
          </a:xfrm>
          <a:prstGeom prst="roundRect">
            <a:avLst>
              <a:gd name="adj" fmla="val 28571"/>
            </a:avLst>
          </a:prstGeom>
          <a:solidFill>
            <a:srgbClr val="B9D77A"/>
          </a:solidFill>
          <a:ln w="12700">
            <a:solidFill>
              <a:srgbClr val="B9D7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76732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D77A"/>
                </a:solidFill>
              </a:rPr>
              <a:t>32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206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32E"/>
                </a:solidFill>
              </a:rPr>
              <a:t>Unassigned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600200" y="4142232"/>
            <a:ext cx="4389120" cy="256032"/>
          </a:xfrm>
          <a:prstGeom prst="roundRect">
            <a:avLst>
              <a:gd name="adj" fmla="val 28571"/>
            </a:avLst>
          </a:prstGeom>
          <a:solidFill>
            <a:srgbClr val="D7DED8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00200" y="4142232"/>
            <a:ext cx="1755648" cy="256032"/>
          </a:xfrm>
          <a:prstGeom prst="roundRect">
            <a:avLst>
              <a:gd name="adj" fmla="val 28571"/>
            </a:avLst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419709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A3A"/>
                </a:solidFill>
              </a:rPr>
              <a:t>24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2075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3A"/>
                </a:solidFill>
              </a:rPr>
              <a:t>FOUR SOURCE LANES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86600" y="2331720"/>
            <a:ext cx="459943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51192" y="2423160"/>
            <a:ext cx="347472" cy="347472"/>
          </a:xfrm>
          <a:prstGeom prst="ellipse">
            <a:avLst/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51192" y="254203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754112" y="240487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32E"/>
                </a:solidFill>
              </a:rPr>
              <a:t>CLOSE WORK IN MOTION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54112" y="2624328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Open proposals, RFPs, pending decisions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086600" y="2971800"/>
            <a:ext cx="459943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51192" y="3063240"/>
            <a:ext cx="347472" cy="347472"/>
          </a:xfrm>
          <a:prstGeom prst="ellipse">
            <a:avLst/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51192" y="318211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754112" y="304495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32E"/>
                </a:solidFill>
              </a:rPr>
              <a:t>REFILL RUNNING-DRY ACCOUNTS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54112" y="3264408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Recent customers with no future WO, GA, or RFP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086600" y="3611880"/>
            <a:ext cx="459943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51192" y="3703320"/>
            <a:ext cx="347472" cy="347472"/>
          </a:xfrm>
          <a:prstGeom prst="ellipse">
            <a:avLst/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51192" y="382219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754112" y="368503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32E"/>
                </a:solidFill>
              </a:rPr>
              <a:t>EXPAND CURRENT CUSTOMERS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54112" y="3904488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Additional sites, deferred work, add-ons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086600" y="4251960"/>
            <a:ext cx="459943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51192" y="4343400"/>
            <a:ext cx="347472" cy="347472"/>
          </a:xfrm>
          <a:prstGeom prst="ellipse">
            <a:avLst/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51192" y="446227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754112" y="432511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32E"/>
                </a:solidFill>
              </a:rPr>
              <a:t>TARGET NEW 2026-FIT WORK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54112" y="4544568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Fast-close HOA and Commercial opportunities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02920" y="5193792"/>
            <a:ext cx="11183112" cy="1005840"/>
          </a:xfrm>
          <a:prstGeom prst="roundRect">
            <a:avLst>
              <a:gd name="adj" fmla="val 10909"/>
            </a:avLst>
          </a:prstGeom>
          <a:solidFill>
            <a:srgbClr val="4A2F22"/>
          </a:solidFill>
          <a:ln w="17780">
            <a:solidFill>
              <a:srgbClr val="D990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" y="54681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D9A3"/>
                </a:solidFill>
              </a:rPr>
              <a:t>NEXT 48 HOURS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148840" y="5404104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 all 24 unassigned accounts. Prioritize the six still working with nothing queued. Dollar-score all 204 accounts.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148840" y="5779008"/>
            <a:ext cx="9098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7CC"/>
                </a:solidFill>
              </a:rPr>
              <a:t>Every priority account gets an owner, estimated value, customer decision date, next action, and 2026 production-fit check.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02920" y="6629400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56E"/>
                </a:solidFill>
              </a:rPr>
              <a:t>Draft management challenge plan  |  TRIM IT PLAY through July 13, 2026  |  PLAY normally lags production ~24h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1475720" y="6629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56E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3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D77A"/>
          </a:solidFill>
          <a:ln w="12700">
            <a:solidFill>
              <a:srgbClr val="B9D7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WEEKLY SALES OPERATING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46720" y="393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C7D5CF"/>
                </a:solidFill>
              </a:rPr>
              <a:t>Nate owns the cadence; Sales + Operations own the handoff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2075688" cy="1856232"/>
          </a:xfrm>
          <a:prstGeom prst="roundRect">
            <a:avLst>
              <a:gd name="adj" fmla="val 5911"/>
            </a:avLst>
          </a:prstGeom>
          <a:solidFill>
            <a:srgbClr val="F8FAF8"/>
          </a:solidFill>
          <a:ln w="17780">
            <a:solidFill>
              <a:srgbClr val="B9D7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078992"/>
            <a:ext cx="566928" cy="246888"/>
          </a:xfrm>
          <a:prstGeom prst="roundRect">
            <a:avLst>
              <a:gd name="adj" fmla="val 44444"/>
            </a:avLst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147572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536192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32E"/>
                </a:solidFill>
              </a:rPr>
              <a:t>SET THE WEEK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$306K Sold target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$417K proposal pace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Top five closes / rep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25496" y="914400"/>
            <a:ext cx="2075688" cy="1856232"/>
          </a:xfrm>
          <a:prstGeom prst="roundRect">
            <a:avLst>
              <a:gd name="adj" fmla="val 5911"/>
            </a:avLst>
          </a:prstGeom>
          <a:solidFill>
            <a:srgbClr val="F8FAF8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1078992"/>
            <a:ext cx="566928" cy="246888"/>
          </a:xfrm>
          <a:prstGeom prst="roundRect">
            <a:avLst>
              <a:gd name="adj" fmla="val 44444"/>
            </a:avLst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0088" y="1147572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TUE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08376" y="1536192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32E"/>
                </a:solidFill>
              </a:rPr>
              <a:t>REP REVIEWS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08376" y="196596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Value, next action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decision date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production timing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48072" y="914400"/>
            <a:ext cx="2075688" cy="1856232"/>
          </a:xfrm>
          <a:prstGeom prst="roundRect">
            <a:avLst>
              <a:gd name="adj" fmla="val 5911"/>
            </a:avLst>
          </a:prstGeom>
          <a:solidFill>
            <a:srgbClr val="F8FAF8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12664" y="1078992"/>
            <a:ext cx="566928" cy="246888"/>
          </a:xfrm>
          <a:prstGeom prst="roundRect">
            <a:avLst>
              <a:gd name="adj" fmla="val 44444"/>
            </a:avLst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2664" y="1147572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30952" y="1536192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32E"/>
                </a:solidFill>
              </a:rPr>
              <a:t>CLEAR BLOCKERS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30952" y="196596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Pricing, scope, QC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contracts, inventory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48-hour escalation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70648" y="914400"/>
            <a:ext cx="2075688" cy="1856232"/>
          </a:xfrm>
          <a:prstGeom prst="roundRect">
            <a:avLst>
              <a:gd name="adj" fmla="val 5911"/>
            </a:avLst>
          </a:prstGeom>
          <a:solidFill>
            <a:srgbClr val="F8FAF8"/>
          </a:solidFill>
          <a:ln w="17780">
            <a:solidFill>
              <a:srgbClr val="74A5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1078992"/>
            <a:ext cx="566928" cy="246888"/>
          </a:xfrm>
          <a:prstGeom prst="roundRect">
            <a:avLst>
              <a:gd name="adj" fmla="val 44444"/>
            </a:avLst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1147572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THU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653528" y="1536192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32E"/>
                </a:solidFill>
              </a:rPr>
              <a:t>CLOSE + SCHEDULE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53528" y="196596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Customer decisions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WO handoff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2026 capacity check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793224" y="914400"/>
            <a:ext cx="2075688" cy="1856232"/>
          </a:xfrm>
          <a:prstGeom prst="roundRect">
            <a:avLst>
              <a:gd name="adj" fmla="val 5911"/>
            </a:avLst>
          </a:prstGeom>
          <a:solidFill>
            <a:srgbClr val="F8FAF8"/>
          </a:solidFill>
          <a:ln w="17780">
            <a:solidFill>
              <a:srgbClr val="B9D7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57816" y="1078992"/>
            <a:ext cx="566928" cy="246888"/>
          </a:xfrm>
          <a:prstGeom prst="roundRect">
            <a:avLst>
              <a:gd name="adj" fmla="val 44444"/>
            </a:avLst>
          </a:prstGeom>
          <a:solidFill>
            <a:srgbClr val="23684F"/>
          </a:solidFill>
          <a:ln w="12700">
            <a:solidFill>
              <a:srgbClr val="2368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57816" y="1147572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976104" y="1536192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32E"/>
                </a:solidFill>
              </a:rPr>
              <a:t>SCORE + RESET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976104" y="196596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Sold and proposals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production-path 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56E"/>
                </a:solidFill>
              </a:rPr>
              <a:t>recovery owners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1821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D77A"/>
                </a:solidFill>
              </a:rPr>
              <a:t>FIVE NUMBERS EVERY FRIDAY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493008"/>
            <a:ext cx="2075688" cy="731520"/>
          </a:xfrm>
          <a:prstGeom prst="roundRect">
            <a:avLst>
              <a:gd name="adj" fmla="val 15000"/>
            </a:avLst>
          </a:prstGeom>
          <a:solidFill>
            <a:srgbClr val="DDEBDD"/>
          </a:solidFill>
          <a:ln w="17780">
            <a:solidFill>
              <a:srgbClr val="DDEB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75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A3A"/>
                </a:solidFill>
              </a:rPr>
              <a:t>$306K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0080" y="4014216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SOLD / WEEK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825496" y="3493008"/>
            <a:ext cx="2075688" cy="731520"/>
          </a:xfrm>
          <a:prstGeom prst="roundRect">
            <a:avLst>
              <a:gd name="adj" fmla="val 15000"/>
            </a:avLst>
          </a:prstGeom>
          <a:solidFill>
            <a:srgbClr val="DDEBDD"/>
          </a:solidFill>
          <a:ln w="17780">
            <a:solidFill>
              <a:srgbClr val="DDEB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62656" y="3675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A3A"/>
                </a:solidFill>
              </a:rPr>
              <a:t>$417K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962656" y="4014216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PROPOSALS / WEEK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148072" y="3493008"/>
            <a:ext cx="2075688" cy="731520"/>
          </a:xfrm>
          <a:prstGeom prst="roundRect">
            <a:avLst>
              <a:gd name="adj" fmla="val 15000"/>
            </a:avLst>
          </a:prstGeom>
          <a:solidFill>
            <a:srgbClr val="DDEBDD"/>
          </a:solidFill>
          <a:ln w="17780">
            <a:solidFill>
              <a:srgbClr val="DDEB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85232" y="3675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A3A"/>
                </a:solidFill>
              </a:rPr>
              <a:t>14 DAYS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85232" y="4014216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DECISIONS DUE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70648" y="3493008"/>
            <a:ext cx="2075688" cy="731520"/>
          </a:xfrm>
          <a:prstGeom prst="roundRect">
            <a:avLst>
              <a:gd name="adj" fmla="val 15000"/>
            </a:avLst>
          </a:prstGeom>
          <a:solidFill>
            <a:srgbClr val="DDEBDD"/>
          </a:solidFill>
          <a:ln w="17780">
            <a:solidFill>
              <a:srgbClr val="DDEB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07808" y="3675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A3A"/>
                </a:solidFill>
              </a:rPr>
              <a:t>100%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07808" y="4014216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NEW SOLD $ PATH-CHECKED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793224" y="3493008"/>
            <a:ext cx="2075688" cy="731520"/>
          </a:xfrm>
          <a:prstGeom prst="roundRect">
            <a:avLst>
              <a:gd name="adj" fmla="val 15000"/>
            </a:avLst>
          </a:prstGeom>
          <a:solidFill>
            <a:srgbClr val="DDEBDD"/>
          </a:solidFill>
          <a:ln w="17780">
            <a:solidFill>
              <a:srgbClr val="DDEB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30384" y="367588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A3A"/>
                </a:solidFill>
              </a:rPr>
              <a:t>204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930384" y="4014216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56E"/>
                </a:solidFill>
              </a:rPr>
              <a:t>DRY ACCOUNTS SCORED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292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D77A"/>
                </a:solidFill>
              </a:rPr>
              <a:t>TRIGGER RULES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" y="4919472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F8FAF8"/>
          </a:solidFill>
          <a:ln w="17780">
            <a:solidFill>
              <a:srgbClr val="D990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502920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2E"/>
                </a:solidFill>
              </a:rPr>
              <a:t>Weekly Sold below $306K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3017520" y="50109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56E"/>
                </a:solidFill>
              </a:rPr>
              <a:t>Name recovery opportunities and owners within 24 hours.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6263640" y="4919472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F8FAF8"/>
          </a:solidFill>
          <a:ln w="17780">
            <a:solidFill>
              <a:srgbClr val="D990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502920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2E"/>
                </a:solidFill>
              </a:rPr>
              <a:t>Proposal pace below $417K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8778240" y="50109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56E"/>
                </a:solidFill>
              </a:rPr>
              <a:t>Increase running-dry and current-customer expansion activity.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502920" y="5577840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F8FAF8"/>
          </a:solidFill>
          <a:ln w="17780">
            <a:solidFill>
              <a:srgbClr val="D990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568756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2E"/>
                </a:solidFill>
              </a:rPr>
              <a:t>Close rate &gt;10 points below history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3017520" y="56692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56E"/>
                </a:solidFill>
              </a:rPr>
              <a:t>Review opportunity quality, pricing, and proposal execution.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6263640" y="5577840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F8FAF8"/>
          </a:solidFill>
          <a:ln w="17780">
            <a:solidFill>
              <a:srgbClr val="B84A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28232" y="568756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2E"/>
                </a:solidFill>
              </a:rPr>
              <a:t>No confirmed 2026 production path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8778240" y="56692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56E"/>
                </a:solidFill>
              </a:rPr>
              <a:t>Remove the dollar from goal coverage and escalate immediately.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502920" y="6629400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0B8"/>
                </a:solidFill>
              </a:rPr>
              <a:t>Draft management challenge plan  |  TRIM IT PLAY through July 13, 2026  |  PLAY normally lags production ~24h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475720" y="6629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C0B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ridge">
    <p:bg>
      <p:bgPr>
        <a:solidFill>
          <a:srgbClr val="263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610000" y="300000"/>
            <a:ext cx="10972000" cy="7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/>
              </a:rPr>
              <a:t>THE BRIDGE TO $24M</a:t>
            </a:r>
          </a:p>
        </p:txBody>
      </p:sp>
      <p:sp>
        <p:nvSpPr>
          <p:cNvPr id="12" name="Subtitle"/>
          <p:cNvSpPr/>
          <p:nvPr/>
        </p:nvSpPr>
        <p:spPr>
          <a:xfrm>
            <a:off x="610000" y="1080000"/>
            <a:ext cx="10972000" cy="4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0" dirty="0">
                <a:solidFill>
                  <a:srgbClr val="C7D5CF"/>
                </a:solidFill>
                <a:latin typeface="Aptos"/>
              </a:rPr>
              <a:t>One goal · three buckets — how the Field and Sales plans reconcile into $24M produced revenue</a:t>
            </a:r>
          </a:p>
        </p:txBody>
      </p:sp>
      <p:sp>
        <p:nvSpPr>
          <p:cNvPr id="13" name="Bucket"/>
          <p:cNvSpPr/>
          <p:nvPr/>
        </p:nvSpPr>
        <p:spPr>
          <a:xfrm>
            <a:off x="610000" y="1760000"/>
            <a:ext cx="3300000" cy="1740000"/>
          </a:xfrm>
          <a:prstGeom prst="roundRect">
            <a:avLst>
              <a:gd name="adj" fmla="val 7000"/>
            </a:avLst>
          </a:prstGeom>
          <a:solidFill>
            <a:srgbClr val="174A3A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D77A"/>
                </a:solidFill>
                <a:latin typeface="Aptos Display"/>
              </a:rPr>
              <a:t>$12.22M</a:t>
            </a:r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</a:rPr>
              <a:t>ALREADY PRODUCED</a:t>
            </a:r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Completed revenue through Jul 13</a:t>
            </a:r>
          </a:p>
        </p:txBody>
      </p:sp>
      <p:sp>
        <p:nvSpPr>
          <p:cNvPr id="14" name="Bucket"/>
          <p:cNvSpPr/>
          <p:nvPr/>
        </p:nvSpPr>
        <p:spPr>
          <a:xfrm>
            <a:off x="4446000" y="1760000"/>
            <a:ext cx="3300000" cy="1740000"/>
          </a:xfrm>
          <a:prstGeom prst="roundRect">
            <a:avLst>
              <a:gd name="adj" fmla="val 7000"/>
            </a:avLst>
          </a:prstGeom>
          <a:solidFill>
            <a:srgbClr val="174A3A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D77A"/>
                </a:solidFill>
                <a:latin typeface="Aptos Display"/>
              </a:rPr>
              <a:t>$7.72M</a:t>
            </a:r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</a:rPr>
              <a:t>SOLD &amp; SCHEDULED</a:t>
            </a:r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Booked — awaiting production</a:t>
            </a:r>
          </a:p>
        </p:txBody>
      </p:sp>
      <p:sp>
        <p:nvSpPr>
          <p:cNvPr id="15" name="Bucket"/>
          <p:cNvSpPr/>
          <p:nvPr/>
        </p:nvSpPr>
        <p:spPr>
          <a:xfrm>
            <a:off x="8282000" y="1760000"/>
            <a:ext cx="3300000" cy="1740000"/>
          </a:xfrm>
          <a:prstGeom prst="roundRect">
            <a:avLst>
              <a:gd name="adj" fmla="val 7000"/>
            </a:avLst>
          </a:prstGeom>
          <a:solidFill>
            <a:srgbClr val="4A2F22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028"/>
                </a:solidFill>
                <a:latin typeface="Aptos Display"/>
              </a:rPr>
              <a:t>$4.06M</a:t>
            </a:r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</a:rPr>
              <a:t>NET-NEW SALES</a:t>
            </a:r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Close by Oct 15 · produce by Dec 31</a:t>
            </a:r>
          </a:p>
        </p:txBody>
      </p:sp>
      <p:sp>
        <p:nvSpPr>
          <p:cNvPr id="16" name="plus1"/>
          <p:cNvSpPr/>
          <p:nvPr/>
        </p:nvSpPr>
        <p:spPr>
          <a:xfrm>
            <a:off x="3910000" y="2360000"/>
            <a:ext cx="536000" cy="5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7" name="plus2"/>
          <p:cNvSpPr/>
          <p:nvPr/>
        </p:nvSpPr>
        <p:spPr>
          <a:xfrm>
            <a:off x="7746000" y="2360000"/>
            <a:ext cx="536000" cy="5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8" name="Total"/>
          <p:cNvSpPr/>
          <p:nvPr/>
        </p:nvSpPr>
        <p:spPr>
          <a:xfrm>
            <a:off x="2596000" y="3760000"/>
            <a:ext cx="7000000" cy="900000"/>
          </a:xfrm>
          <a:prstGeom prst="roundRect">
            <a:avLst>
              <a:gd name="adj" fmla="val 7000"/>
            </a:avLst>
          </a:prstGeom>
          <a:solidFill>
            <a:srgbClr val="23684F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D77A"/>
                </a:solidFill>
                <a:latin typeface="Aptos Display"/>
              </a:rPr>
              <a:t>=  $24M</a:t>
            </a:r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FFFFFF"/>
                </a:solidFill>
                <a:latin typeface="Aptos"/>
              </a:rPr>
              <a:t>2026 PRODUCED-REVENUE GOAL</a:t>
            </a:r>
          </a:p>
        </p:txBody>
      </p:sp>
      <p:sp>
        <p:nvSpPr>
          <p:cNvPr id="19" name="FieldMap"/>
          <p:cNvSpPr/>
          <p:nvPr/>
        </p:nvSpPr>
        <p:spPr>
          <a:xfrm>
            <a:off x="610000" y="4880000"/>
            <a:ext cx="5290000" cy="880000"/>
          </a:xfrm>
          <a:prstGeom prst="rect">
            <a:avLst/>
          </a:prstGeom>
          <a:solidFill>
            <a:srgbClr val="174A3A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D77A"/>
                </a:solidFill>
                <a:latin typeface="Aptos"/>
              </a:rPr>
              <a:t>FIELD PLAN  →  PRODUCES $11.78M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$7.72M booked + $4.06M new · the 118-workday, $99.9K/day plan</a:t>
            </a:r>
          </a:p>
        </p:txBody>
      </p:sp>
      <p:sp>
        <p:nvSpPr>
          <p:cNvPr id="20" name="SalesMap"/>
          <p:cNvSpPr/>
          <p:nvPr/>
        </p:nvSpPr>
        <p:spPr>
          <a:xfrm>
            <a:off x="6292000" y="4880000"/>
            <a:ext cx="5290000" cy="880000"/>
          </a:xfrm>
          <a:prstGeom prst="rect">
            <a:avLst/>
          </a:prstGeom>
          <a:solidFill>
            <a:srgbClr val="4A2F22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9028"/>
                </a:solidFill>
                <a:latin typeface="Aptos"/>
              </a:rPr>
              <a:t>SALES PLAN  →  SELLS $4.06M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1050" b="0" dirty="0">
                <a:solidFill>
                  <a:srgbClr val="AFC0B8"/>
                </a:solidFill>
                <a:latin typeface="Aptos"/>
              </a:rPr>
              <a:t>Net-new, closed by Oct 15 · the $306K/week protected pace</a:t>
            </a:r>
          </a:p>
        </p:txBody>
      </p:sp>
      <p:sp>
        <p:nvSpPr>
          <p:cNvPr id="21" name="Foot"/>
          <p:cNvSpPr/>
          <p:nvPr/>
        </p:nvSpPr>
        <p:spPr>
          <a:xfrm>
            <a:off x="610000" y="5880000"/>
            <a:ext cx="10972000" cy="6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normAutofit/>
          </a:bodyPr>
          <a:lstStyle/>
          <a:p>
            <a:pPr algn="l" indent="0" marL="0">
              <a:buNone/>
            </a:pPr>
            <a:r>
              <a:rPr lang="en-US" sz="950" b="0" dirty="0">
                <a:solidFill>
                  <a:srgbClr val="AFC0B8"/>
                </a:solidFill>
                <a:latin typeface="Aptos"/>
              </a:rPr>
              <a:t>Bridge closes to the dollar: $12.22M + $7.72M + $4.06M = $24.00M.  The $7.72M sold/scheduled bucket must be reconciled to Nate's sold subtotal (~$8.1M) and segmented PO-firm vs PO-gated before quotas issue.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950" b="0" dirty="0">
                <a:solidFill>
                  <a:srgbClr val="66756E"/>
                </a:solidFill>
                <a:latin typeface="Aptos"/>
              </a:rPr>
              <a:t>TRIM IT PLAY through Jul 13, 2026 · PLAY normally lags production ~24h.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Great Scott Tree 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GSTS $24M Sales Operating Plan</dc:title>
  <dc:subject>2026 Sales Operating Plan</dc:subject>
  <dc:creator>Great Scott Tree Care</dc:creator>
  <cp:lastModifiedBy>Great Scott Tree Care</cp:lastModifiedBy>
  <cp:revision>1</cp:revision>
  <dcterms:created xsi:type="dcterms:W3CDTF">2026-07-14T22:18:37Z</dcterms:created>
  <dcterms:modified xsi:type="dcterms:W3CDTF">2026-07-14T22:18:37Z</dcterms:modified>
</cp:coreProperties>
</file>