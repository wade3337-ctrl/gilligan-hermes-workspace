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ridge">
    <p:bg>
      <p:bgPr>
        <a:solidFill>
          <a:srgbClr val="263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610000" y="300000"/>
            <a:ext cx="10972000" cy="7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THE BRIDGE TO $24M</a:t>
            </a:r>
          </a:p>
        </p:txBody>
      </p:sp>
      <p:sp>
        <p:nvSpPr>
          <p:cNvPr id="12" name="Subtitle"/>
          <p:cNvSpPr/>
          <p:nvPr/>
        </p:nvSpPr>
        <p:spPr>
          <a:xfrm>
            <a:off x="610000" y="1080000"/>
            <a:ext cx="10972000" cy="4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0" dirty="0">
                <a:solidFill>
                  <a:srgbClr val="C7D5CF"/>
                </a:solidFill>
                <a:latin typeface="Aptos"/>
              </a:rPr>
              <a:t>One goal · three buckets — how the Field and Sales plans reconcile into $24M produced revenue</a:t>
            </a:r>
          </a:p>
        </p:txBody>
      </p:sp>
      <p:sp>
        <p:nvSpPr>
          <p:cNvPr id="13" name="Bucket"/>
          <p:cNvSpPr/>
          <p:nvPr/>
        </p:nvSpPr>
        <p:spPr>
          <a:xfrm>
            <a:off x="610000" y="1760000"/>
            <a:ext cx="3300000" cy="1740000"/>
          </a:xfrm>
          <a:prstGeom prst="roundRect">
            <a:avLst>
              <a:gd name="adj" fmla="val 7000"/>
            </a:avLst>
          </a:prstGeom>
          <a:solidFill>
            <a:srgbClr val="174A3A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D77A"/>
                </a:solidFill>
                <a:latin typeface="Aptos Display"/>
              </a:rPr>
              <a:t>$12.22M</a:t>
            </a:r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ALREADY PRODUCED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Completed revenue through Jul 13</a:t>
            </a:r>
          </a:p>
        </p:txBody>
      </p:sp>
      <p:sp>
        <p:nvSpPr>
          <p:cNvPr id="14" name="Bucket"/>
          <p:cNvSpPr/>
          <p:nvPr/>
        </p:nvSpPr>
        <p:spPr>
          <a:xfrm>
            <a:off x="4446000" y="1760000"/>
            <a:ext cx="3300000" cy="1740000"/>
          </a:xfrm>
          <a:prstGeom prst="roundRect">
            <a:avLst>
              <a:gd name="adj" fmla="val 7000"/>
            </a:avLst>
          </a:prstGeom>
          <a:solidFill>
            <a:srgbClr val="174A3A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D77A"/>
                </a:solidFill>
                <a:latin typeface="Aptos Display"/>
              </a:rPr>
              <a:t>$7.72M</a:t>
            </a:r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SOLD &amp; SCHEDULED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Booked — awaiting production</a:t>
            </a:r>
          </a:p>
        </p:txBody>
      </p:sp>
      <p:sp>
        <p:nvSpPr>
          <p:cNvPr id="15" name="Bucket"/>
          <p:cNvSpPr/>
          <p:nvPr/>
        </p:nvSpPr>
        <p:spPr>
          <a:xfrm>
            <a:off x="8282000" y="1760000"/>
            <a:ext cx="3300000" cy="1740000"/>
          </a:xfrm>
          <a:prstGeom prst="roundRect">
            <a:avLst>
              <a:gd name="adj" fmla="val 7000"/>
            </a:avLst>
          </a:prstGeom>
          <a:solidFill>
            <a:srgbClr val="4A2F22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028"/>
                </a:solidFill>
                <a:latin typeface="Aptos Display"/>
              </a:rPr>
              <a:t>$4.06M</a:t>
            </a:r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NET-NEW SALES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Close by Oct 15 · produce by Dec 31</a:t>
            </a:r>
          </a:p>
        </p:txBody>
      </p:sp>
      <p:sp>
        <p:nvSpPr>
          <p:cNvPr id="16" name="plus1"/>
          <p:cNvSpPr/>
          <p:nvPr/>
        </p:nvSpPr>
        <p:spPr>
          <a:xfrm>
            <a:off x="3910000" y="2360000"/>
            <a:ext cx="536000" cy="5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7" name="plus2"/>
          <p:cNvSpPr/>
          <p:nvPr/>
        </p:nvSpPr>
        <p:spPr>
          <a:xfrm>
            <a:off x="7746000" y="2360000"/>
            <a:ext cx="536000" cy="5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8" name="Total"/>
          <p:cNvSpPr/>
          <p:nvPr/>
        </p:nvSpPr>
        <p:spPr>
          <a:xfrm>
            <a:off x="2596000" y="3760000"/>
            <a:ext cx="7000000" cy="900000"/>
          </a:xfrm>
          <a:prstGeom prst="roundRect">
            <a:avLst>
              <a:gd name="adj" fmla="val 7000"/>
            </a:avLst>
          </a:prstGeom>
          <a:solidFill>
            <a:srgbClr val="23684F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D77A"/>
                </a:solidFill>
                <a:latin typeface="Aptos Display"/>
              </a:rPr>
              <a:t>=  $24M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2026 PRODUCED-REVENUE GOAL</a:t>
            </a:r>
          </a:p>
        </p:txBody>
      </p:sp>
      <p:sp>
        <p:nvSpPr>
          <p:cNvPr id="19" name="FieldMap"/>
          <p:cNvSpPr/>
          <p:nvPr/>
        </p:nvSpPr>
        <p:spPr>
          <a:xfrm>
            <a:off x="610000" y="4880000"/>
            <a:ext cx="5290000" cy="880000"/>
          </a:xfrm>
          <a:prstGeom prst="rect">
            <a:avLst/>
          </a:prstGeom>
          <a:solidFill>
            <a:srgbClr val="174A3A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FIELD PLAN  →  PRODUCES $11.78M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$7.72M booked + $4.06M new · the 118-workday, $99.9K/day plan</a:t>
            </a:r>
          </a:p>
        </p:txBody>
      </p:sp>
      <p:sp>
        <p:nvSpPr>
          <p:cNvPr id="20" name="SalesMap"/>
          <p:cNvSpPr/>
          <p:nvPr/>
        </p:nvSpPr>
        <p:spPr>
          <a:xfrm>
            <a:off x="6292000" y="4880000"/>
            <a:ext cx="5290000" cy="880000"/>
          </a:xfrm>
          <a:prstGeom prst="rect">
            <a:avLst/>
          </a:prstGeom>
          <a:solidFill>
            <a:srgbClr val="4A2F22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9028"/>
                </a:solidFill>
                <a:latin typeface="Aptos"/>
              </a:rPr>
              <a:t>SALES PLAN  →  SELLS $4.06M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Net-new, closed by Oct 15 · the $306K/week protected pace</a:t>
            </a:r>
          </a:p>
        </p:txBody>
      </p:sp>
      <p:sp>
        <p:nvSpPr>
          <p:cNvPr id="21" name="Foot"/>
          <p:cNvSpPr/>
          <p:nvPr/>
        </p:nvSpPr>
        <p:spPr>
          <a:xfrm>
            <a:off x="610000" y="5880000"/>
            <a:ext cx="10972000" cy="6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 indent="0" marL="0">
              <a:buNone/>
            </a:pPr>
            <a:r>
              <a:rPr lang="en-US" sz="950" b="0" dirty="0">
                <a:solidFill>
                  <a:srgbClr val="AFC0B8"/>
                </a:solidFill>
                <a:latin typeface="Aptos"/>
              </a:rPr>
              <a:t>Bridge closes to the dollar: $12.22M + $7.72M + $4.06M = $24.00M.  The $7.72M sold/scheduled bucket must be reconciled to Nate's sold subtotal (~$8.1M) and segmented PO-firm vs PO-gated before quotas issue.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950" b="0" dirty="0">
                <a:solidFill>
                  <a:srgbClr val="66756E"/>
                </a:solidFill>
                <a:latin typeface="Aptos"/>
              </a:rPr>
              <a:t>TRIM IT PLAY through Jul 13, 2026 · PLAY normally lags production ~24h.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Great Scott Tree 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GSTS $24M Sales Operating Plan</dc:title>
  <dc:subject>2026 Sales Operating Plan</dc:subject>
  <dc:creator>Great Scott Tree Care</dc:creator>
  <cp:lastModifiedBy>Great Scott Tree Care</cp:lastModifiedBy>
  <cp:revision>1</cp:revision>
  <dcterms:created xsi:type="dcterms:W3CDTF">2026-07-14T22:18:37Z</dcterms:created>
  <dcterms:modified xsi:type="dcterms:W3CDTF">2026-07-14T22:18:37Z</dcterms:modified>
</cp:coreProperties>
</file>